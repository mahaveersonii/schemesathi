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1cba6e6-b496-d74a-6a66-ff82a890f5bc}">
          <p14:sldIdLst>
            <p14:sldId id="256"/>
          </p14:sldIdLst>
        </p14:section>
        <p14:section name="Problem" id="{663da86d-f548-4b2a-b506-01041002b685}">
          <p14:sldIdLst>
            <p14:sldId id="257"/>
            <p14:sldId id="258"/>
          </p14:sldIdLst>
        </p14:section>
        <p14:section name="Solution" id="{f9a1155b-2bc0-717d-a2ad-7af9bc673b63}">
          <p14:sldIdLst>
            <p14:sldId id="259"/>
            <p14:sldId id="260"/>
            <p14:sldId id="261"/>
            <p14:sldId id="262"/>
          </p14:sldIdLst>
        </p14:section>
        <p14:section name="Product" id="{77290992-4bad-2f22-ec64-63473098f4e8}">
          <p14:sldIdLst>
            <p14:sldId id="263"/>
            <p14:sldId id="264"/>
          </p14:sldIdLst>
        </p14:section>
        <p14:section name="Results" id="{dc19ece8-dd64-3bef-075e-716319e7ab12}">
          <p14:sldIdLst>
            <p14:sldId id="265"/>
            <p14:sldId id="266"/>
          </p14:sldIdLst>
        </p14:section>
        <p14:section name="Impact" id="{92db0e1b-35a2-4e1b-634b-7b3b83c4b13c}">
          <p14:sldIdLst>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F2A44"/>
                </a:solidFill>
                <a:latin typeface="+mn-lt"/>
              </a:defRPr>
            </a:pPr>
            <a:r>
              <a:rPr sz="1500" b="0" i="0" u="none" strike="noStrike">
                <a:solidFill>
                  <a:srgbClr val="1F2A44"/>
                </a:solidFill>
                <a:latin typeface="+mn-lt"/>
              </a:rPr>
              <a:t>12 people × 32 schemes = 384 decisions</a:t>
            </a:r>
          </a:p>
        </c:rich>
      </c:tx>
      <c:layout/>
      <c:overlay val="0"/>
    </c:title>
    <c:autoTitleDeleted val="0"/>
    <c:plotArea>
      <c:layout/>
      <c:barChart>
        <c:barDir val="col"/>
        <c:grouping val="clustered"/>
        <c:varyColors val="0"/>
        <c:ser>
          <c:idx val="0"/>
          <c:order val="0"/>
          <c:tx>
            <c:strRef>
              <c:f>Sheet1!$B$1</c:f>
              <c:strCache>
                <c:ptCount val="1"/>
                <c:pt idx="0">
                  <c:v>SchemeSathi rule engine</c:v>
                </c:pt>
              </c:strCache>
            </c:strRef>
          </c:tx>
          <c:spPr>
            <a:solidFill>
              <a:srgbClr val="1E8C5A"/>
            </a:solidFill>
            <a:effectLst/>
          </c:spPr>
          <c:invertIfNegative val="0"/>
          <c:dLbls>
            <c:numFmt formatCode="0&quot;%&quot;" sourceLinked="0"/>
            <c:txPr>
              <a:bodyPr/>
              <a:lstStyle/>
              <a:p>
                <a:pPr>
                  <a:defRPr b="0" i="0" strike="noStrike" sz="1400" u="none">
                    <a:solidFill>
                      <a:srgbClr val="1F2A44"/>
                    </a:solidFill>
                    <a:latin typeface="+mn-lt"/>
                  </a:defRPr>
                </a:pPr>
              </a:p>
            </c:txPr>
            <c:showLegendKey val="0"/>
            <c:showVal val="1"/>
            <c:showCatName val="0"/>
            <c:showSerName val="0"/>
            <c:showPercent val="0"/>
            <c:showBubbleSize val="0"/>
            <c:showLeaderLines val="0"/>
          </c:dLbls>
          <c:cat>
            <c:multiLvlStrRef>
              <c:f>Sheet1!$A$2:$A$4</c:f>
              <c:multiLvlStrCache>
                <c:ptCount val="3"/>
                <c:lvl>
                  <c:pt idx="0">
                    <c:v>Precision</c:v>
                  </c:pt>
                  <c:pt idx="1">
                    <c:v>Recall</c:v>
                  </c:pt>
                  <c:pt idx="2">
                    <c:v>F1</c:v>
                  </c:pt>
                </c:lvl>
              </c:multiLvlStrCache>
            </c:multiLvlStrRef>
          </c:cat>
          <c:val>
            <c:numRef>
              <c:f>Sheet1!$B$2:$B$4</c:f>
              <c:numCache>
                <c:formatCode>General</c:formatCode>
                <c:ptCount val="3"/>
                <c:pt idx="0">
                  <c:v>100</c:v>
                </c:pt>
                <c:pt idx="1">
                  <c:v>100</c:v>
                </c:pt>
                <c:pt idx="2">
                  <c:v>100</c:v>
                </c:pt>
              </c:numCache>
            </c:numRef>
          </c:val>
        </c:ser>
        <c:ser>
          <c:idx val="1"/>
          <c:order val="1"/>
          <c:tx>
            <c:strRef>
              <c:f>Sheet1!$C$1</c:f>
              <c:strCache>
                <c:ptCount val="1"/>
                <c:pt idx="0">
                  <c:v>LLM alone (gpt-oss-20b)</c:v>
                </c:pt>
              </c:strCache>
            </c:strRef>
          </c:tx>
          <c:spPr>
            <a:solidFill>
              <a:srgbClr val="C98A12"/>
            </a:solidFill>
            <a:effectLst/>
          </c:spPr>
          <c:invertIfNegative val="0"/>
          <c:dLbls>
            <c:numFmt formatCode="0&quot;%&quot;" sourceLinked="0"/>
            <c:txPr>
              <a:bodyPr/>
              <a:lstStyle/>
              <a:p>
                <a:pPr>
                  <a:defRPr b="0" i="0" strike="noStrike" sz="1400" u="none">
                    <a:solidFill>
                      <a:srgbClr val="1F2A44"/>
                    </a:solidFill>
                    <a:latin typeface="+mn-lt"/>
                  </a:defRPr>
                </a:pPr>
              </a:p>
            </c:txPr>
            <c:showLegendKey val="0"/>
            <c:showVal val="1"/>
            <c:showCatName val="0"/>
            <c:showSerName val="0"/>
            <c:showPercent val="0"/>
            <c:showBubbleSize val="0"/>
            <c:showLeaderLines val="0"/>
          </c:dLbls>
          <c:cat>
            <c:multiLvlStrRef>
              <c:f>Sheet1!$A$2:$A$4</c:f>
              <c:multiLvlStrCache>
                <c:ptCount val="3"/>
                <c:lvl>
                  <c:pt idx="0">
                    <c:v>Precision</c:v>
                  </c:pt>
                  <c:pt idx="1">
                    <c:v>Recall</c:v>
                  </c:pt>
                  <c:pt idx="2">
                    <c:v>F1</c:v>
                  </c:pt>
                </c:lvl>
              </c:multiLvlStrCache>
            </c:multiLvlStrRef>
          </c:cat>
          <c:val>
            <c:numRef>
              <c:f>Sheet1!$C$2:$C$4</c:f>
              <c:numCache>
                <c:formatCode>General</c:formatCode>
                <c:ptCount val="3"/>
                <c:pt idx="0">
                  <c:v>64</c:v>
                </c:pt>
                <c:pt idx="1">
                  <c:v>68</c:v>
                </c:pt>
                <c:pt idx="2">
                  <c:v>66</c:v>
                </c:pt>
              </c:numCache>
            </c:numRef>
          </c:val>
        </c:ser>
        <c:dLbls>
          <c:numFmt formatCode="0&quot;%&quot;" sourceLinked="0"/>
          <c:txPr>
            <a:bodyPr/>
            <a:lstStyle/>
            <a:p>
              <a:pPr>
                <a:defRPr b="0" i="0" strike="noStrike" sz="1400" u="none">
                  <a:solidFill>
                    <a:srgbClr val="1F2A44"/>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5E6678"/>
                </a:solidFill>
                <a:latin typeface="+mn-lt"/>
              </a:defRPr>
            </a:pPr>
            <a:endParaRPr lang="en-US"/>
          </a:p>
        </c:txPr>
        <c:crossAx val="2094734552"/>
        <c:crosses val="autoZero"/>
        <c:auto val="1"/>
        <c:lblAlgn val="ctr"/>
        <c:noMultiLvlLbl val="1"/>
      </c:catAx>
      <c:valAx>
        <c:axId val="2094734552"/>
        <c:scaling>
          <c:orientation val="minMax"/>
          <c:max val="11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6678"/>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300">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F2A44"/>
                </a:solidFill>
                <a:latin typeface="+mn-lt"/>
              </a:defRPr>
            </a:pPr>
            <a:r>
              <a:rPr sz="1500" b="0" i="0" u="none" strike="noStrike">
                <a:solidFill>
                  <a:srgbClr val="1F2A44"/>
                </a:solidFill>
                <a:latin typeface="+mn-lt"/>
              </a:rPr>
              <a:t>Retrieval on 24 questions (%, MRR × 100)</a:t>
            </a:r>
          </a:p>
        </c:rich>
      </c:tx>
      <c:layout/>
      <c:overlay val="0"/>
    </c:title>
    <c:autoTitleDeleted val="0"/>
    <c:plotArea>
      <c:layout/>
      <c:barChart>
        <c:barDir val="col"/>
        <c:grouping val="clustered"/>
        <c:varyColors val="0"/>
        <c:ser>
          <c:idx val="0"/>
          <c:order val="0"/>
          <c:tx>
            <c:strRef>
              <c:f>Sheet1!$B$1</c:f>
              <c:strCache>
                <c:ptCount val="1"/>
                <c:pt idx="0">
                  <c:v>vector only</c:v>
                </c:pt>
              </c:strCache>
            </c:strRef>
          </c:tx>
          <c:spPr>
            <a:solidFill>
              <a:srgbClr val="9AA3B5"/>
            </a:solidFill>
            <a:effectLst/>
          </c:spPr>
          <c:invertIfNegative val="0"/>
          <c:dLbls>
            <c:numFmt formatCode="#,##0" sourceLinked="0"/>
            <c:txPr>
              <a:bodyPr/>
              <a:lstStyle/>
              <a:p>
                <a:pPr>
                  <a:defRPr b="0" i="0" strike="noStrike" sz="1200" u="none">
                    <a:solidFill>
                      <a:srgbClr val="1F2A44"/>
                    </a:solidFill>
                    <a:latin typeface="+mn-lt"/>
                  </a:defRPr>
                </a:pPr>
              </a:p>
            </c:txPr>
            <c:showLegendKey val="0"/>
            <c:showVal val="1"/>
            <c:showCatName val="0"/>
            <c:showSerName val="0"/>
            <c:showPercent val="0"/>
            <c:showBubbleSize val="0"/>
            <c:showLeaderLines val="0"/>
          </c:dLbls>
          <c:cat>
            <c:multiLvlStrRef>
              <c:f>Sheet1!$A$2:$A$4</c:f>
              <c:multiLvlStrCache>
                <c:ptCount val="3"/>
                <c:lvl>
                  <c:pt idx="0">
                    <c:v>Hit@1</c:v>
                  </c:pt>
                  <c:pt idx="1">
                    <c:v>Hit@3</c:v>
                  </c:pt>
                  <c:pt idx="2">
                    <c:v>MRR</c:v>
                  </c:pt>
                </c:lvl>
              </c:multiLvlStrCache>
            </c:multiLvlStrRef>
          </c:cat>
          <c:val>
            <c:numRef>
              <c:f>Sheet1!$B$2:$B$4</c:f>
              <c:numCache>
                <c:formatCode>General</c:formatCode>
                <c:ptCount val="3"/>
                <c:pt idx="0">
                  <c:v>46</c:v>
                </c:pt>
                <c:pt idx="1">
                  <c:v>71</c:v>
                </c:pt>
                <c:pt idx="2">
                  <c:v>60</c:v>
                </c:pt>
              </c:numCache>
            </c:numRef>
          </c:val>
        </c:ser>
        <c:ser>
          <c:idx val="1"/>
          <c:order val="1"/>
          <c:tx>
            <c:strRef>
              <c:f>Sheet1!$C$1</c:f>
              <c:strCache>
                <c:ptCount val="1"/>
                <c:pt idx="0">
                  <c:v>hybrid (0.9 vector + 0.1 keyword)</c:v>
                </c:pt>
              </c:strCache>
            </c:strRef>
          </c:tx>
          <c:spPr>
            <a:solidFill>
              <a:srgbClr val="C98A12"/>
            </a:solidFill>
            <a:effectLst/>
          </c:spPr>
          <c:invertIfNegative val="0"/>
          <c:dLbls>
            <c:numFmt formatCode="#,##0" sourceLinked="0"/>
            <c:txPr>
              <a:bodyPr/>
              <a:lstStyle/>
              <a:p>
                <a:pPr>
                  <a:defRPr b="0" i="0" strike="noStrike" sz="1200" u="none">
                    <a:solidFill>
                      <a:srgbClr val="1F2A44"/>
                    </a:solidFill>
                    <a:latin typeface="+mn-lt"/>
                  </a:defRPr>
                </a:pPr>
              </a:p>
            </c:txPr>
            <c:showLegendKey val="0"/>
            <c:showVal val="1"/>
            <c:showCatName val="0"/>
            <c:showSerName val="0"/>
            <c:showPercent val="0"/>
            <c:showBubbleSize val="0"/>
            <c:showLeaderLines val="0"/>
          </c:dLbls>
          <c:cat>
            <c:multiLvlStrRef>
              <c:f>Sheet1!$A$2:$A$4</c:f>
              <c:multiLvlStrCache>
                <c:ptCount val="3"/>
                <c:lvl>
                  <c:pt idx="0">
                    <c:v>Hit@1</c:v>
                  </c:pt>
                  <c:pt idx="1">
                    <c:v>Hit@3</c:v>
                  </c:pt>
                  <c:pt idx="2">
                    <c:v>MRR</c:v>
                  </c:pt>
                </c:lvl>
              </c:multiLvlStrCache>
            </c:multiLvlStrRef>
          </c:cat>
          <c:val>
            <c:numRef>
              <c:f>Sheet1!$C$2:$C$4</c:f>
              <c:numCache>
                <c:formatCode>General</c:formatCode>
                <c:ptCount val="3"/>
                <c:pt idx="0">
                  <c:v>33</c:v>
                </c:pt>
                <c:pt idx="1">
                  <c:v>75</c:v>
                </c:pt>
                <c:pt idx="2">
                  <c:v>56</c:v>
                </c:pt>
              </c:numCache>
            </c:numRef>
          </c:val>
        </c:ser>
        <c:ser>
          <c:idx val="2"/>
          <c:order val="2"/>
          <c:tx>
            <c:strRef>
              <c:f>Sheet1!$D$1</c:f>
              <c:strCache>
                <c:ptCount val="1"/>
                <c:pt idx="0">
                  <c:v>hybrid + intent boost</c:v>
                </c:pt>
              </c:strCache>
            </c:strRef>
          </c:tx>
          <c:spPr>
            <a:solidFill>
              <a:srgbClr val="E07A2E"/>
            </a:solidFill>
            <a:effectLst/>
          </c:spPr>
          <c:invertIfNegative val="0"/>
          <c:dLbls>
            <c:numFmt formatCode="#,##0" sourceLinked="0"/>
            <c:txPr>
              <a:bodyPr/>
              <a:lstStyle/>
              <a:p>
                <a:pPr>
                  <a:defRPr b="0" i="0" strike="noStrike" sz="1200" u="none">
                    <a:solidFill>
                      <a:srgbClr val="1F2A44"/>
                    </a:solidFill>
                    <a:latin typeface="+mn-lt"/>
                  </a:defRPr>
                </a:pPr>
              </a:p>
            </c:txPr>
            <c:showLegendKey val="0"/>
            <c:showVal val="1"/>
            <c:showCatName val="0"/>
            <c:showSerName val="0"/>
            <c:showPercent val="0"/>
            <c:showBubbleSize val="0"/>
            <c:showLeaderLines val="0"/>
          </c:dLbls>
          <c:cat>
            <c:multiLvlStrRef>
              <c:f>Sheet1!$A$2:$A$4</c:f>
              <c:multiLvlStrCache>
                <c:ptCount val="3"/>
                <c:lvl>
                  <c:pt idx="0">
                    <c:v>Hit@1</c:v>
                  </c:pt>
                  <c:pt idx="1">
                    <c:v>Hit@3</c:v>
                  </c:pt>
                  <c:pt idx="2">
                    <c:v>MRR</c:v>
                  </c:pt>
                </c:lvl>
              </c:multiLvlStrCache>
            </c:multiLvlStrRef>
          </c:cat>
          <c:val>
            <c:numRef>
              <c:f>Sheet1!$D$2:$D$4</c:f>
              <c:numCache>
                <c:formatCode>General</c:formatCode>
                <c:ptCount val="3"/>
                <c:pt idx="0">
                  <c:v>46</c:v>
                </c:pt>
                <c:pt idx="1">
                  <c:v>83</c:v>
                </c:pt>
                <c:pt idx="2">
                  <c:v>63</c:v>
                </c:pt>
              </c:numCache>
            </c:numRef>
          </c:val>
        </c:ser>
        <c:dLbls>
          <c:numFmt formatCode="#,##0" sourceLinked="0"/>
          <c:txPr>
            <a:bodyPr/>
            <a:lstStyle/>
            <a:p>
              <a:pPr>
                <a:defRPr b="0" i="0" strike="noStrike" sz="1200" u="none">
                  <a:solidFill>
                    <a:srgbClr val="1F2A44"/>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5E6678"/>
                </a:solidFill>
                <a:latin typeface="+mn-lt"/>
              </a:defRPr>
            </a:pPr>
            <a:endParaRPr lang="en-US"/>
          </a:p>
        </c:txPr>
        <c:crossAx val="2094734552"/>
        <c:crosses val="autoZero"/>
        <c:auto val="1"/>
        <c:lblAlgn val="ctr"/>
        <c:noMultiLvlLbl val="1"/>
      </c:catAx>
      <c:valAx>
        <c:axId val="2094734552"/>
        <c:scaling>
          <c:orientation val="minMax"/>
          <c:max val="10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SchemeSathi means scheme companion. One agent, five tools, and a guardrail in code, so it can't guess or invent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design goal is an agent whose every claim can be checked, not a better chatbot.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model the agent uses, given the profile and the list of 32 schemes, no tools. It missed MGNREGA for most rural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LLM does what it is good at: planning, reading and explaining. Deterministic code does what it is bad at: rules, arithmetic and checking.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paths: the instant path uses no AI at all; the agent path runs only for questions. That saves the free token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F2A4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2011680"/>
            <a:ext cx="7680960" cy="1280160"/>
          </a:xfrm>
          <a:prstGeom prst="rect">
            <a:avLst/>
          </a:prstGeom>
          <a:noFill/>
          <a:ln/>
        </p:spPr>
        <p:txBody>
          <a:bodyPr wrap="square" rtlCol="0"/>
          <a:lstStyle>
            <a:lvl1pPr algn="l" indent="0" marL="0">
              <a:buNone/>
              <a:defRPr lang="en-US" sz="5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5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0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3" name="Text 0"/>
          <p:cNvSpPr/>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rgbClr val="5E6678"/>
                </a:solidFill>
              </a:rPr>
              <a:t>SchemeSathi · Mahaveer Soni (065089) · AABA</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678"/>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67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github.com/Mahaveersonii/schemesathi" TargetMode="External"/><Relationship Id="rId1" Type="http://schemas.openxmlformats.org/officeDocument/2006/relationships/image" Target="../media/image-1-1.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github.com/Mahaveersonii/schemesathi" TargetMode="External"/><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40080" y="548640"/>
            <a:ext cx="8229600" cy="365760"/>
          </a:xfrm>
          <a:prstGeom prst="rect">
            <a:avLst/>
          </a:prstGeom>
          <a:noFill/>
          <a:ln/>
        </p:spPr>
        <p:txBody>
          <a:bodyPr wrap="square" lIns="0" tIns="0" rIns="0" bIns="0" rtlCol="0" anchor="ctr"/>
          <a:lstStyle/>
          <a:p>
            <a:pPr indent="0" marL="0">
              <a:buNone/>
            </a:pPr>
            <a:r>
              <a:rPr lang="en-US" sz="1400" b="1" dirty="0">
                <a:solidFill>
                  <a:srgbClr val="F6C9A5"/>
                </a:solidFill>
              </a:rPr>
              <a:t>Agentic AI for Business Automation (AABA) · PGDM-BDA, Term 04, 2026-27</a:t>
            </a:r>
            <a:endParaRPr lang="en-US" sz="1400" dirty="0"/>
          </a:p>
        </p:txBody>
      </p:sp>
      <p:sp>
        <p:nvSpPr>
          <p:cNvPr id="3" name="Text 1"/>
          <p:cNvSpPr/>
          <p:nvPr/>
        </p:nvSpPr>
        <p:spPr>
          <a:xfrm>
            <a:off x="640080" y="1554480"/>
            <a:ext cx="5486400" cy="411480"/>
          </a:xfrm>
          <a:prstGeom prst="rect">
            <a:avLst/>
          </a:prstGeom>
          <a:noFill/>
          <a:ln/>
        </p:spPr>
        <p:txBody>
          <a:bodyPr wrap="square" lIns="0" tIns="0" rIns="0" bIns="0" rtlCol="0" anchor="ctr"/>
          <a:lstStyle/>
          <a:p>
            <a:pPr indent="0" marL="0">
              <a:buNone/>
            </a:pPr>
            <a:r>
              <a:rPr lang="en-US" sz="1800" i="1" dirty="0">
                <a:solidFill>
                  <a:srgbClr val="D6DCEC"/>
                </a:solidFill>
                <a:latin typeface="Cambria" pitchFamily="34" charset="0"/>
                <a:ea typeface="Cambria" pitchFamily="34" charset="-122"/>
                <a:cs typeface="Cambria" pitchFamily="34" charset="-120"/>
              </a:rPr>
              <a:t>Report on</a:t>
            </a:r>
            <a:endParaRPr lang="en-US" sz="1800" dirty="0"/>
          </a:p>
        </p:txBody>
      </p:sp>
      <p:sp>
        <p:nvSpPr>
          <p:cNvPr id="4" name="Text 0"/>
          <p:cNvSpPr/>
          <p:nvPr>
            <p:ph idx="100" type="title" hasCustomPrompt="1"/>
          </p:nvPr>
        </p:nvSpPr>
        <p:spPr>
          <a:xfrm>
            <a:off x="640080" y="2011680"/>
            <a:ext cx="7680960" cy="1280160"/>
          </a:xfrm>
          <a:prstGeom prst="rect">
            <a:avLst/>
          </a:prstGeom>
          <a:noFill/>
          <a:ln/>
        </p:spPr>
        <p:txBody>
          <a:bodyPr wrap="square" lIns="0" tIns="0" rIns="0" bIns="0" rtlCol="0" anchor="ctr"/>
          <a:lstStyle/>
          <a:p>
            <a:pPr algn="l" indent="0" marL="0">
              <a:buNone/>
            </a:pPr>
            <a:r>
              <a:rPr lang="en-US" sz="5400" b="1" dirty="0">
                <a:solidFill>
                  <a:schemeClr val="bg1"/>
                </a:solidFill>
                <a:latin typeface="Cambria" pitchFamily="34" charset="0"/>
                <a:ea typeface="Cambria" pitchFamily="34" charset="-122"/>
                <a:cs typeface="Cambria" pitchFamily="34" charset="-120"/>
              </a:rPr>
              <a:t>SchemeSathi</a:t>
            </a:r>
            <a:endParaRPr lang="en-US" sz="5400" dirty="0"/>
          </a:p>
        </p:txBody>
      </p:sp>
      <p:sp>
        <p:nvSpPr>
          <p:cNvPr id="5" name="Text 3"/>
          <p:cNvSpPr/>
          <p:nvPr/>
        </p:nvSpPr>
        <p:spPr>
          <a:xfrm>
            <a:off x="640080" y="3337560"/>
            <a:ext cx="6949440" cy="914400"/>
          </a:xfrm>
          <a:prstGeom prst="rect">
            <a:avLst/>
          </a:prstGeom>
          <a:noFill/>
          <a:ln/>
        </p:spPr>
        <p:txBody>
          <a:bodyPr wrap="square" lIns="0" tIns="0" rIns="0" bIns="0" rtlCol="0" anchor="t"/>
          <a:lstStyle/>
          <a:p>
            <a:pPr indent="0" marL="0">
              <a:buNone/>
            </a:pPr>
            <a:r>
              <a:rPr lang="en-US" sz="1800" dirty="0">
                <a:solidFill>
                  <a:srgbClr val="F6C9A5"/>
                </a:solidFill>
              </a:rPr>
              <a:t>A single AI agent that finds the government schemes a citizen is entitled to, with the official source for every line</a:t>
            </a:r>
            <a:endParaRPr lang="en-US" sz="1800" dirty="0"/>
          </a:p>
        </p:txBody>
      </p:sp>
      <p:sp>
        <p:nvSpPr>
          <p:cNvPr id="6" name="Text 4"/>
          <p:cNvSpPr/>
          <p:nvPr/>
        </p:nvSpPr>
        <p:spPr>
          <a:xfrm>
            <a:off x="640080" y="4754880"/>
            <a:ext cx="6858000" cy="731520"/>
          </a:xfrm>
          <a:prstGeom prst="rect">
            <a:avLst/>
          </a:prstGeom>
          <a:noFill/>
          <a:ln/>
        </p:spPr>
        <p:txBody>
          <a:bodyPr wrap="square" lIns="0" tIns="0" rIns="0" bIns="0" rtlCol="0" anchor="ctr"/>
          <a:lstStyle/>
          <a:p>
            <a:pPr indent="0" marL="0">
              <a:spcAft>
                <a:spcPts val="600"/>
              </a:spcAft>
              <a:buNone/>
            </a:pPr>
            <a:r>
              <a:rPr lang="en-US" sz="1500" b="1" dirty="0">
                <a:solidFill>
                  <a:srgbClr val="F6C9A5"/>
                </a:solidFill>
              </a:rPr>
              <a:t>Submitted to  </a:t>
            </a:r>
            <a:pPr indent="0" marL="0">
              <a:spcAft>
                <a:spcPts val="600"/>
              </a:spcAft>
              <a:buNone/>
            </a:pPr>
            <a:r>
              <a:rPr lang="en-US" sz="1500" dirty="0">
                <a:solidFill>
                  <a:srgbClr val="FFFFFF"/>
                </a:solidFill>
              </a:rPr>
              <a:t>Faculty Name: Prof. Shiva Botchu</a:t>
            </a:r>
            <a:endParaRPr lang="en-US" sz="1500" dirty="0"/>
          </a:p>
          <a:p>
            <a:pPr indent="0" marL="0">
              <a:spcAft>
                <a:spcPts val="600"/>
              </a:spcAft>
              <a:buNone/>
            </a:pPr>
            <a:r>
              <a:rPr lang="en-US" sz="1500" b="1" dirty="0">
                <a:solidFill>
                  <a:srgbClr val="F6C9A5"/>
                </a:solidFill>
              </a:rPr>
              <a:t>Submitted by  </a:t>
            </a:r>
            <a:pPr indent="0" marL="0">
              <a:spcAft>
                <a:spcPts val="600"/>
              </a:spcAft>
              <a:buNone/>
            </a:pPr>
            <a:r>
              <a:rPr lang="en-US" sz="1500" dirty="0">
                <a:solidFill>
                  <a:srgbClr val="FFFFFF"/>
                </a:solidFill>
              </a:rPr>
              <a:t>Mahaveer Soni · Roll No. 065089</a:t>
            </a:r>
            <a:endParaRPr lang="en-US" sz="1500" dirty="0"/>
          </a:p>
        </p:txBody>
      </p:sp>
      <p:sp>
        <p:nvSpPr>
          <p:cNvPr id="7" name="Text 5"/>
          <p:cNvSpPr/>
          <p:nvPr/>
        </p:nvSpPr>
        <p:spPr>
          <a:xfrm>
            <a:off x="640080" y="5715000"/>
            <a:ext cx="7132320" cy="457200"/>
          </a:xfrm>
          <a:prstGeom prst="rect">
            <a:avLst/>
          </a:prstGeom>
          <a:noFill/>
          <a:ln/>
        </p:spPr>
        <p:txBody>
          <a:bodyPr wrap="square" lIns="0" tIns="0" rIns="0" bIns="0" rtlCol="0" anchor="ctr"/>
          <a:lstStyle/>
          <a:p>
            <a:pPr indent="0" marL="0">
              <a:buNone/>
            </a:pPr>
            <a:r>
              <a:rPr lang="en-US" sz="1100" i="1" dirty="0">
                <a:solidFill>
                  <a:srgbClr val="AEB6CC"/>
                </a:solidFill>
              </a:rPr>
              <a:t>Submitted in partial fulfilment of the requirements for the Post Graduate Diploma in Management (PGDM)</a:t>
            </a:r>
            <a:endParaRPr lang="en-US" sz="1100" dirty="0"/>
          </a:p>
        </p:txBody>
      </p:sp>
      <p:sp>
        <p:nvSpPr>
          <p:cNvPr id="8" name="logo-card"/>
          <p:cNvSpPr/>
          <p:nvPr/>
        </p:nvSpPr>
        <p:spPr>
          <a:xfrm>
            <a:off x="8229600" y="548640"/>
            <a:ext cx="3383280" cy="1051560"/>
          </a:xfrm>
          <a:prstGeom prst="roundRect">
            <a:avLst>
              <a:gd name="adj" fmla="val 10435"/>
            </a:avLst>
          </a:prstGeom>
          <a:solidFill>
            <a:srgbClr val="FFFFFF"/>
          </a:solidFill>
          <a:ln w="12700">
            <a:solidFill>
              <a:srgbClr val="FFFFFF"/>
            </a:solidFill>
            <a:prstDash val="solid"/>
          </a:ln>
        </p:spPr>
      </p:sp>
      <p:pic>
        <p:nvPicPr>
          <p:cNvPr id="9" name="fore_logo.png" descr="/Users/mahaveer/Desktop/AABA/schemesathi/docs/report/fore_logo.png">    </p:cNvPr>
          <p:cNvPicPr>
            <a:picLocks noChangeAspect="1"/>
          </p:cNvPicPr>
          <p:nvPr/>
        </p:nvPicPr>
        <p:blipFill>
          <a:blip r:embed="rId1"/>
          <a:stretch>
            <a:fillRect/>
          </a:stretch>
        </p:blipFill>
        <p:spPr>
          <a:xfrm>
            <a:off x="8366760" y="713232"/>
            <a:ext cx="3108960" cy="584650"/>
          </a:xfrm>
          <a:prstGeom prst="rect">
            <a:avLst/>
          </a:prstGeom>
        </p:spPr>
      </p:pic>
      <p:sp>
        <p:nvSpPr>
          <p:cNvPr id="10" name="glow"/>
          <p:cNvSpPr/>
          <p:nvPr/>
        </p:nvSpPr>
        <p:spPr>
          <a:xfrm>
            <a:off x="8778240" y="2194560"/>
            <a:ext cx="2743200" cy="2743200"/>
          </a:xfrm>
          <a:prstGeom prst="ellipse">
            <a:avLst/>
          </a:prstGeom>
          <a:solidFill>
            <a:srgbClr val="E07A2E">
              <a:alpha val="30000"/>
            </a:srgbClr>
          </a:solidFill>
          <a:ln w="12700">
            <a:solidFill>
              <a:srgbClr val="E07A2E">
                <a:alpha val="30000"/>
              </a:srgbClr>
            </a:solidFill>
            <a:prstDash val="solid"/>
          </a:ln>
        </p:spPr>
      </p:sp>
      <p:sp>
        <p:nvSpPr>
          <p:cNvPr id="11" name="Text 8"/>
          <p:cNvSpPr/>
          <p:nvPr/>
        </p:nvSpPr>
        <p:spPr>
          <a:xfrm>
            <a:off x="8778240" y="2514600"/>
            <a:ext cx="2743200" cy="2103120"/>
          </a:xfrm>
          <a:prstGeom prst="rect">
            <a:avLst/>
          </a:prstGeom>
          <a:noFill/>
          <a:ln/>
        </p:spPr>
        <p:txBody>
          <a:bodyPr wrap="square" lIns="0" tIns="0" rIns="0" bIns="0" rtlCol="0" anchor="ctr"/>
          <a:lstStyle/>
          <a:p>
            <a:pPr algn="ctr" indent="0" marL="0">
              <a:buNone/>
            </a:pPr>
            <a:r>
              <a:rPr lang="en-US" sz="6600" b="1" dirty="0">
                <a:solidFill>
                  <a:srgbClr val="FFFFFF"/>
                </a:solidFill>
                <a:latin typeface="Cambria" pitchFamily="34" charset="0"/>
                <a:ea typeface="Cambria" pitchFamily="34" charset="-122"/>
                <a:cs typeface="Cambria" pitchFamily="34" charset="-120"/>
              </a:rPr>
              <a:t>32</a:t>
            </a:r>
            <a:endParaRPr lang="en-US" sz="6600" dirty="0"/>
          </a:p>
          <a:p>
            <a:pPr algn="ctr" indent="0" marL="0">
              <a:buNone/>
            </a:pPr>
            <a:r>
              <a:rPr lang="en-US" sz="1400" dirty="0">
                <a:solidFill>
                  <a:srgbClr val="FFFFFF"/>
                </a:solidFill>
              </a:rPr>
              <a:t>central schemes checked</a:t>
            </a:r>
            <a:endParaRPr lang="en-US" sz="6600" dirty="0"/>
          </a:p>
          <a:p>
            <a:pPr algn="ctr" indent="0" marL="0">
              <a:buNone/>
            </a:pPr>
            <a:r>
              <a:rPr lang="en-US" sz="1400" dirty="0">
                <a:solidFill>
                  <a:srgbClr val="FFFFFF"/>
                </a:solidFill>
              </a:rPr>
              <a:t>against official rules</a:t>
            </a:r>
            <a:endParaRPr lang="en-US" sz="6600" dirty="0"/>
          </a:p>
        </p:txBody>
      </p:sp>
      <p:sp>
        <p:nvSpPr>
          <p:cNvPr id="12" name="Text 9">
            <a:hlinkClick r:id="rId2" tooltip=""/>
          </p:cNvPr>
          <p:cNvSpPr/>
          <p:nvPr/>
        </p:nvSpPr>
        <p:spPr>
          <a:xfrm>
            <a:off x="8229600" y="5715000"/>
            <a:ext cx="3383280" cy="365760"/>
          </a:xfrm>
          <a:prstGeom prst="rect">
            <a:avLst/>
          </a:prstGeom>
          <a:noFill/>
          <a:ln/>
        </p:spPr>
        <p:txBody>
          <a:bodyPr wrap="square" lIns="0" tIns="0" rIns="0" bIns="0" rtlCol="0" anchor="ctr"/>
          <a:lstStyle/>
          <a:p>
            <a:pPr algn="r" indent="0" marL="0">
              <a:buNone/>
            </a:pPr>
            <a:r>
              <a:rPr lang="en-US" sz="1200" u="sng" dirty="0">
                <a:solidFill>
                  <a:srgbClr val="F6C9A5"/>
                </a:solidFill>
                <a:hlinkClick r:id="rId2" invalidUrl="" action="" tgtFrame="" tooltip="" history="1" highlightClick="0" endSnd="0">
                  <a:extLst>
                    <a:ext uri="{A12FA001-AC4F-418D-AE19-62706E023703}">
                      <ahyp:hlinkClr xmlns:ahyp="http://schemas.microsoft.com/office/drawing/2018/hyperlinkcolor" val="tx"/>
                    </a:ext>
                  </a:extLst>
                </a:hlinkClick>
              </a:rPr>
              <a:t>github.com/Mahaveersonii/schemesathi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Benefits exist, but people cannot reach them</a:t>
            </a:r>
            <a:endParaRPr lang="en-US" sz="3000" dirty="0"/>
          </a:p>
        </p:txBody>
      </p:sp>
      <p:sp>
        <p:nvSpPr>
          <p:cNvPr id="3" name="Text 1"/>
          <p:cNvSpPr/>
          <p:nvPr/>
        </p:nvSpPr>
        <p:spPr>
          <a:xfrm>
            <a:off x="548640" y="1234440"/>
            <a:ext cx="11064240" cy="731520"/>
          </a:xfrm>
          <a:prstGeom prst="rect">
            <a:avLst/>
          </a:prstGeom>
          <a:noFill/>
          <a:ln/>
        </p:spPr>
        <p:txBody>
          <a:bodyPr wrap="square" lIns="0" tIns="0" rIns="0" bIns="0" rtlCol="0" anchor="ctr"/>
          <a:lstStyle/>
          <a:p>
            <a:pPr indent="0" marL="0">
              <a:buNone/>
            </a:pPr>
            <a:r>
              <a:rPr lang="en-US" sz="1600" dirty="0">
                <a:solidFill>
                  <a:srgbClr val="1F2A44"/>
                </a:solidFill>
              </a:rPr>
              <a:t>Each scheme has its own age bands, land, income, caste and exclusion rules, its own document list and its own route to apply. The people who need them most are the least able to read 30 sets of guidelines.</a:t>
            </a:r>
            <a:endParaRPr lang="en-US" sz="1600" dirty="0"/>
          </a:p>
        </p:txBody>
      </p:sp>
      <p:sp>
        <p:nvSpPr>
          <p:cNvPr id="4" name="card"/>
          <p:cNvSpPr/>
          <p:nvPr/>
        </p:nvSpPr>
        <p:spPr>
          <a:xfrm>
            <a:off x="548640" y="2240280"/>
            <a:ext cx="3474720" cy="3566160"/>
          </a:xfrm>
          <a:prstGeom prst="roundRect">
            <a:avLst>
              <a:gd name="adj" fmla="val 3158"/>
            </a:avLst>
          </a:prstGeom>
          <a:solidFill>
            <a:srgbClr val="FBF7F0"/>
          </a:solidFill>
          <a:ln w="12700">
            <a:solidFill>
              <a:srgbClr val="FBF7F0"/>
            </a:solidFill>
            <a:prstDash val="solid"/>
          </a:ln>
        </p:spPr>
      </p:sp>
      <p:sp>
        <p:nvSpPr>
          <p:cNvPr id="5" name="icon-circle"/>
          <p:cNvSpPr/>
          <p:nvPr/>
        </p:nvSpPr>
        <p:spPr>
          <a:xfrm>
            <a:off x="822960" y="2514600"/>
            <a:ext cx="777240" cy="777240"/>
          </a:xfrm>
          <a:prstGeom prst="ellipse">
            <a:avLst/>
          </a:prstGeom>
          <a:solidFill>
            <a:srgbClr val="B4473A"/>
          </a:solidFill>
          <a:ln w="12700">
            <a:solidFill>
              <a:srgbClr val="B4473A"/>
            </a:solidFill>
            <a:prstDash val="solid"/>
          </a:ln>
        </p:spPr>
      </p:sp>
      <p:pic>
        <p:nvPicPr>
          <p:cNvPr id="6" name="icon" descr="preencoded.png">    </p:cNvPr>
          <p:cNvPicPr>
            <a:picLocks noChangeAspect="1"/>
          </p:cNvPicPr>
          <p:nvPr/>
        </p:nvPicPr>
        <p:blipFill>
          <a:blip r:embed="rId1"/>
          <a:stretch>
            <a:fillRect/>
          </a:stretch>
        </p:blipFill>
        <p:spPr>
          <a:xfrm>
            <a:off x="1009498" y="2701138"/>
            <a:ext cx="404165" cy="404165"/>
          </a:xfrm>
          <a:prstGeom prst="rect">
            <a:avLst/>
          </a:prstGeom>
        </p:spPr>
      </p:pic>
      <p:sp>
        <p:nvSpPr>
          <p:cNvPr id="7" name="Text 4"/>
          <p:cNvSpPr/>
          <p:nvPr/>
        </p:nvSpPr>
        <p:spPr>
          <a:xfrm>
            <a:off x="822960" y="3474720"/>
            <a:ext cx="2926080" cy="502920"/>
          </a:xfrm>
          <a:prstGeom prst="rect">
            <a:avLst/>
          </a:prstGeom>
          <a:noFill/>
          <a:ln/>
        </p:spPr>
        <p:txBody>
          <a:bodyPr wrap="square" lIns="0" tIns="0" rIns="0" bIns="0" rtlCol="0" anchor="ctr"/>
          <a:lstStyle/>
          <a:p>
            <a:pPr indent="0" marL="0">
              <a:buNone/>
            </a:pPr>
            <a:r>
              <a:rPr lang="en-US" sz="2200" b="1" dirty="0">
                <a:solidFill>
                  <a:srgbClr val="1F2A44"/>
                </a:solidFill>
                <a:latin typeface="Cambria" pitchFamily="34" charset="0"/>
                <a:ea typeface="Cambria" pitchFamily="34" charset="-122"/>
                <a:cs typeface="Cambria" pitchFamily="34" charset="-120"/>
              </a:rPr>
              <a:t>It guesses</a:t>
            </a:r>
            <a:endParaRPr lang="en-US" sz="2200" dirty="0"/>
          </a:p>
        </p:txBody>
      </p:sp>
      <p:sp>
        <p:nvSpPr>
          <p:cNvPr id="8" name="Text 5"/>
          <p:cNvSpPr/>
          <p:nvPr/>
        </p:nvSpPr>
        <p:spPr>
          <a:xfrm>
            <a:off x="822960" y="4023360"/>
            <a:ext cx="2926080" cy="1554480"/>
          </a:xfrm>
          <a:prstGeom prst="rect">
            <a:avLst/>
          </a:prstGeom>
          <a:noFill/>
          <a:ln/>
        </p:spPr>
        <p:txBody>
          <a:bodyPr wrap="square" lIns="0" tIns="0" rIns="0" bIns="0" rtlCol="0" anchor="t"/>
          <a:lstStyle/>
          <a:p>
            <a:pPr indent="0" marL="0">
              <a:buNone/>
            </a:pPr>
            <a:r>
              <a:rPr lang="en-US" sz="1500" dirty="0">
                <a:solidFill>
                  <a:srgbClr val="1F2A44"/>
                </a:solidFill>
              </a:rPr>
              <a:t>An LLM alone offered the old-age pension to a 34-year-old and PM-KISAN to a tenant farmer with no land in his name.</a:t>
            </a:r>
            <a:endParaRPr lang="en-US" sz="1500" dirty="0"/>
          </a:p>
        </p:txBody>
      </p:sp>
      <p:sp>
        <p:nvSpPr>
          <p:cNvPr id="9" name="card"/>
          <p:cNvSpPr/>
          <p:nvPr/>
        </p:nvSpPr>
        <p:spPr>
          <a:xfrm>
            <a:off x="4297680" y="2240280"/>
            <a:ext cx="3474720" cy="3566160"/>
          </a:xfrm>
          <a:prstGeom prst="roundRect">
            <a:avLst>
              <a:gd name="adj" fmla="val 3158"/>
            </a:avLst>
          </a:prstGeom>
          <a:solidFill>
            <a:srgbClr val="FBF7F0"/>
          </a:solidFill>
          <a:ln w="12700">
            <a:solidFill>
              <a:srgbClr val="FBF7F0"/>
            </a:solidFill>
            <a:prstDash val="solid"/>
          </a:ln>
        </p:spPr>
      </p:sp>
      <p:sp>
        <p:nvSpPr>
          <p:cNvPr id="10" name="icon-circle"/>
          <p:cNvSpPr/>
          <p:nvPr/>
        </p:nvSpPr>
        <p:spPr>
          <a:xfrm>
            <a:off x="4572000" y="2514600"/>
            <a:ext cx="777240" cy="777240"/>
          </a:xfrm>
          <a:prstGeom prst="ellipse">
            <a:avLst/>
          </a:prstGeom>
          <a:solidFill>
            <a:srgbClr val="C98A12"/>
          </a:solidFill>
          <a:ln w="12700">
            <a:solidFill>
              <a:srgbClr val="C98A12"/>
            </a:solidFill>
            <a:prstDash val="solid"/>
          </a:ln>
        </p:spPr>
      </p:sp>
      <p:pic>
        <p:nvPicPr>
          <p:cNvPr id="11" name="icon" descr="preencoded.png">    </p:cNvPr>
          <p:cNvPicPr>
            <a:picLocks noChangeAspect="1"/>
          </p:cNvPicPr>
          <p:nvPr/>
        </p:nvPicPr>
        <p:blipFill>
          <a:blip r:embed="rId2"/>
          <a:stretch>
            <a:fillRect/>
          </a:stretch>
        </p:blipFill>
        <p:spPr>
          <a:xfrm>
            <a:off x="4758538" y="2701138"/>
            <a:ext cx="404165" cy="404165"/>
          </a:xfrm>
          <a:prstGeom prst="rect">
            <a:avLst/>
          </a:prstGeom>
        </p:spPr>
      </p:pic>
      <p:sp>
        <p:nvSpPr>
          <p:cNvPr id="12" name="Text 8"/>
          <p:cNvSpPr/>
          <p:nvPr/>
        </p:nvSpPr>
        <p:spPr>
          <a:xfrm>
            <a:off x="4572000" y="3474720"/>
            <a:ext cx="2926080" cy="502920"/>
          </a:xfrm>
          <a:prstGeom prst="rect">
            <a:avLst/>
          </a:prstGeom>
          <a:noFill/>
          <a:ln/>
        </p:spPr>
        <p:txBody>
          <a:bodyPr wrap="square" lIns="0" tIns="0" rIns="0" bIns="0" rtlCol="0" anchor="ctr"/>
          <a:lstStyle/>
          <a:p>
            <a:pPr indent="0" marL="0">
              <a:buNone/>
            </a:pPr>
            <a:r>
              <a:rPr lang="en-US" sz="2200" b="1" dirty="0">
                <a:solidFill>
                  <a:srgbClr val="1F2A44"/>
                </a:solidFill>
                <a:latin typeface="Cambria" pitchFamily="34" charset="0"/>
                <a:ea typeface="Cambria" pitchFamily="34" charset="-122"/>
                <a:cs typeface="Cambria" pitchFamily="34" charset="-120"/>
              </a:rPr>
              <a:t>It invents</a:t>
            </a:r>
            <a:endParaRPr lang="en-US" sz="2200" dirty="0"/>
          </a:p>
        </p:txBody>
      </p:sp>
      <p:sp>
        <p:nvSpPr>
          <p:cNvPr id="13" name="Text 9"/>
          <p:cNvSpPr/>
          <p:nvPr/>
        </p:nvSpPr>
        <p:spPr>
          <a:xfrm>
            <a:off x="4572000" y="4023360"/>
            <a:ext cx="2926080" cy="1554480"/>
          </a:xfrm>
          <a:prstGeom prst="rect">
            <a:avLst/>
          </a:prstGeom>
          <a:noFill/>
          <a:ln/>
        </p:spPr>
        <p:txBody>
          <a:bodyPr wrap="square" lIns="0" tIns="0" rIns="0" bIns="0" rtlCol="0" anchor="t"/>
          <a:lstStyle/>
          <a:p>
            <a:pPr indent="0" marL="0">
              <a:buNone/>
            </a:pPr>
            <a:r>
              <a:rPr lang="en-US" sz="1500" dirty="0">
                <a:solidFill>
                  <a:srgbClr val="1F2A44"/>
                </a:solidFill>
              </a:rPr>
              <a:t>During development it wrote government websites that do not exist and a cash total more than 8× the real one.</a:t>
            </a:r>
            <a:endParaRPr lang="en-US" sz="1500" dirty="0"/>
          </a:p>
        </p:txBody>
      </p:sp>
      <p:sp>
        <p:nvSpPr>
          <p:cNvPr id="14" name="card"/>
          <p:cNvSpPr/>
          <p:nvPr/>
        </p:nvSpPr>
        <p:spPr>
          <a:xfrm>
            <a:off x="8046720" y="2240280"/>
            <a:ext cx="3474720" cy="3566160"/>
          </a:xfrm>
          <a:prstGeom prst="roundRect">
            <a:avLst>
              <a:gd name="adj" fmla="val 3158"/>
            </a:avLst>
          </a:prstGeom>
          <a:solidFill>
            <a:srgbClr val="FBF7F0"/>
          </a:solidFill>
          <a:ln w="12700">
            <a:solidFill>
              <a:srgbClr val="FBF7F0"/>
            </a:solidFill>
            <a:prstDash val="solid"/>
          </a:ln>
        </p:spPr>
      </p:sp>
      <p:sp>
        <p:nvSpPr>
          <p:cNvPr id="15" name="icon-circle"/>
          <p:cNvSpPr/>
          <p:nvPr/>
        </p:nvSpPr>
        <p:spPr>
          <a:xfrm>
            <a:off x="8321040" y="2514600"/>
            <a:ext cx="777240" cy="777240"/>
          </a:xfrm>
          <a:prstGeom prst="ellipse">
            <a:avLst/>
          </a:prstGeom>
          <a:solidFill>
            <a:srgbClr val="3B4C7A"/>
          </a:solidFill>
          <a:ln w="12700">
            <a:solidFill>
              <a:srgbClr val="3B4C7A"/>
            </a:solidFill>
            <a:prstDash val="solid"/>
          </a:ln>
        </p:spPr>
      </p:sp>
      <p:pic>
        <p:nvPicPr>
          <p:cNvPr id="16" name="icon" descr="preencoded.png">    </p:cNvPr>
          <p:cNvPicPr>
            <a:picLocks noChangeAspect="1"/>
          </p:cNvPicPr>
          <p:nvPr/>
        </p:nvPicPr>
        <p:blipFill>
          <a:blip r:embed="rId3"/>
          <a:stretch>
            <a:fillRect/>
          </a:stretch>
        </p:blipFill>
        <p:spPr>
          <a:xfrm>
            <a:off x="8507578" y="2701138"/>
            <a:ext cx="404165" cy="404165"/>
          </a:xfrm>
          <a:prstGeom prst="rect">
            <a:avLst/>
          </a:prstGeom>
        </p:spPr>
      </p:pic>
      <p:sp>
        <p:nvSpPr>
          <p:cNvPr id="17" name="Text 12"/>
          <p:cNvSpPr/>
          <p:nvPr/>
        </p:nvSpPr>
        <p:spPr>
          <a:xfrm>
            <a:off x="8321040" y="3474720"/>
            <a:ext cx="2926080" cy="502920"/>
          </a:xfrm>
          <a:prstGeom prst="rect">
            <a:avLst/>
          </a:prstGeom>
          <a:noFill/>
          <a:ln/>
        </p:spPr>
        <p:txBody>
          <a:bodyPr wrap="square" lIns="0" tIns="0" rIns="0" bIns="0" rtlCol="0" anchor="ctr"/>
          <a:lstStyle/>
          <a:p>
            <a:pPr indent="0" marL="0">
              <a:buNone/>
            </a:pPr>
            <a:r>
              <a:rPr lang="en-US" sz="2200" b="1" dirty="0">
                <a:solidFill>
                  <a:srgbClr val="1F2A44"/>
                </a:solidFill>
                <a:latin typeface="Cambria" pitchFamily="34" charset="0"/>
                <a:ea typeface="Cambria" pitchFamily="34" charset="-122"/>
                <a:cs typeface="Cambria" pitchFamily="34" charset="-120"/>
              </a:rPr>
              <a:t>It shows no source</a:t>
            </a:r>
            <a:endParaRPr lang="en-US" sz="2200" dirty="0"/>
          </a:p>
        </p:txBody>
      </p:sp>
      <p:sp>
        <p:nvSpPr>
          <p:cNvPr id="18" name="Text 13"/>
          <p:cNvSpPr/>
          <p:nvPr/>
        </p:nvSpPr>
        <p:spPr>
          <a:xfrm>
            <a:off x="8321040" y="4023360"/>
            <a:ext cx="2926080" cy="1554480"/>
          </a:xfrm>
          <a:prstGeom prst="rect">
            <a:avLst/>
          </a:prstGeom>
          <a:noFill/>
          <a:ln/>
        </p:spPr>
        <p:txBody>
          <a:bodyPr wrap="square" lIns="0" tIns="0" rIns="0" bIns="0" rtlCol="0" anchor="t"/>
          <a:lstStyle/>
          <a:p>
            <a:pPr indent="0" marL="0">
              <a:buNone/>
            </a:pPr>
            <a:r>
              <a:rPr lang="en-US" sz="1500" dirty="0">
                <a:solidFill>
                  <a:srgbClr val="1F2A44"/>
                </a:solidFill>
              </a:rPr>
              <a:t>A family, a CSC operator or an NGO worker needs the official line to show at the bank or block office.</a:t>
            </a:r>
            <a:endParaRPr lang="en-US" sz="1500" dirty="0"/>
          </a:p>
        </p:txBody>
      </p:sp>
      <p:sp>
        <p:nvSpPr>
          <p:cNvPr id="19" name="Text 14"/>
          <p:cNvSpPr/>
          <p:nvPr/>
        </p:nvSpPr>
        <p:spPr>
          <a:xfrm>
            <a:off x="548640" y="5897880"/>
            <a:ext cx="11064240" cy="365760"/>
          </a:xfrm>
          <a:prstGeom prst="rect">
            <a:avLst/>
          </a:prstGeom>
          <a:noFill/>
          <a:ln/>
        </p:spPr>
        <p:txBody>
          <a:bodyPr wrap="square" lIns="0" tIns="0" rIns="0" bIns="0" rtlCol="0" anchor="ctr"/>
          <a:lstStyle/>
          <a:p>
            <a:pPr indent="0" marL="0">
              <a:buNone/>
            </a:pPr>
            <a:r>
              <a:rPr lang="en-US" sz="1500" i="1" dirty="0">
                <a:solidFill>
                  <a:srgbClr val="E07A2E"/>
                </a:solidFill>
              </a:rPr>
              <a:t>A wrong “yes” wastes a day and bus fare. A wrong “no” quietly costs money a family is owed.</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67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An LLM alone gets eligibility wrong one time in three</a:t>
            </a:r>
            <a:endParaRPr lang="en-US" sz="3000" dirty="0"/>
          </a:p>
        </p:txBody>
      </p:sp>
      <p:graphicFrame>
        <p:nvGraphicFramePr>
          <p:cNvPr id="3" name="Chart 0" descr=""/>
          <p:cNvGraphicFramePr/>
          <p:nvPr/>
        </p:nvGraphicFramePr>
        <p:xfrm>
          <a:off x="548640" y="1280160"/>
          <a:ext cx="6766560" cy="4846320"/>
        </p:xfrm>
        <a:graphic xmlns:a="http://schemas.openxmlformats.org/drawingml/2006/main">
          <a:graphicData uri="http://schemas.openxmlformats.org/drawingml/2006/chart">
            <c:chart xmlns:c="http://schemas.openxmlformats.org/drawingml/2006/chart" r:id="rId1"/>
          </a:graphicData>
        </a:graphic>
      </p:graphicFrame>
      <p:sp>
        <p:nvSpPr>
          <p:cNvPr id="4" name="card"/>
          <p:cNvSpPr/>
          <p:nvPr/>
        </p:nvSpPr>
        <p:spPr>
          <a:xfrm>
            <a:off x="7772400" y="1325880"/>
            <a:ext cx="3840480" cy="1417320"/>
          </a:xfrm>
          <a:prstGeom prst="roundRect">
            <a:avLst>
              <a:gd name="adj" fmla="val 7742"/>
            </a:avLst>
          </a:prstGeom>
          <a:solidFill>
            <a:srgbClr val="FBF7F0"/>
          </a:solidFill>
          <a:ln w="12700">
            <a:solidFill>
              <a:srgbClr val="FBF7F0"/>
            </a:solidFill>
            <a:prstDash val="solid"/>
          </a:ln>
        </p:spPr>
      </p:sp>
      <p:sp>
        <p:nvSpPr>
          <p:cNvPr id="5" name="Text 2"/>
          <p:cNvSpPr/>
          <p:nvPr/>
        </p:nvSpPr>
        <p:spPr>
          <a:xfrm>
            <a:off x="8001000" y="1417320"/>
            <a:ext cx="1645920" cy="1234440"/>
          </a:xfrm>
          <a:prstGeom prst="rect">
            <a:avLst/>
          </a:prstGeom>
          <a:noFill/>
          <a:ln/>
        </p:spPr>
        <p:txBody>
          <a:bodyPr wrap="square" lIns="0" tIns="0" rIns="0" bIns="0" rtlCol="0" anchor="ctr"/>
          <a:lstStyle/>
          <a:p>
            <a:pPr indent="0" marL="0">
              <a:buNone/>
            </a:pPr>
            <a:r>
              <a:rPr lang="en-US" sz="4800" b="1" dirty="0">
                <a:solidFill>
                  <a:srgbClr val="B4473A"/>
                </a:solidFill>
                <a:latin typeface="Cambria" pitchFamily="34" charset="0"/>
                <a:ea typeface="Cambria" pitchFamily="34" charset="-122"/>
                <a:cs typeface="Cambria" pitchFamily="34" charset="-120"/>
              </a:rPr>
              <a:t>27</a:t>
            </a:r>
            <a:endParaRPr lang="en-US" sz="4800" dirty="0"/>
          </a:p>
        </p:txBody>
      </p:sp>
      <p:sp>
        <p:nvSpPr>
          <p:cNvPr id="6" name="Text 3"/>
          <p:cNvSpPr/>
          <p:nvPr/>
        </p:nvSpPr>
        <p:spPr>
          <a:xfrm>
            <a:off x="9646920" y="1417320"/>
            <a:ext cx="1828800" cy="1234440"/>
          </a:xfrm>
          <a:prstGeom prst="rect">
            <a:avLst/>
          </a:prstGeom>
          <a:noFill/>
          <a:ln/>
        </p:spPr>
        <p:txBody>
          <a:bodyPr wrap="square" lIns="0" tIns="0" rIns="0" bIns="0" rtlCol="0" anchor="ctr"/>
          <a:lstStyle/>
          <a:p>
            <a:pPr indent="0" marL="0">
              <a:buNone/>
            </a:pPr>
            <a:r>
              <a:rPr lang="en-US" sz="1400" dirty="0">
                <a:solidFill>
                  <a:srgbClr val="1F2A44"/>
                </a:solidFill>
              </a:rPr>
              <a:t>schemes wrongly offered</a:t>
            </a:r>
            <a:endParaRPr lang="en-US" sz="1400" dirty="0"/>
          </a:p>
        </p:txBody>
      </p:sp>
      <p:sp>
        <p:nvSpPr>
          <p:cNvPr id="7" name="card"/>
          <p:cNvSpPr/>
          <p:nvPr/>
        </p:nvSpPr>
        <p:spPr>
          <a:xfrm>
            <a:off x="7772400" y="2926080"/>
            <a:ext cx="3840480" cy="1417320"/>
          </a:xfrm>
          <a:prstGeom prst="roundRect">
            <a:avLst>
              <a:gd name="adj" fmla="val 7742"/>
            </a:avLst>
          </a:prstGeom>
          <a:solidFill>
            <a:srgbClr val="FBF7F0"/>
          </a:solidFill>
          <a:ln w="12700">
            <a:solidFill>
              <a:srgbClr val="FBF7F0"/>
            </a:solidFill>
            <a:prstDash val="solid"/>
          </a:ln>
        </p:spPr>
      </p:sp>
      <p:sp>
        <p:nvSpPr>
          <p:cNvPr id="8" name="Text 5"/>
          <p:cNvSpPr/>
          <p:nvPr/>
        </p:nvSpPr>
        <p:spPr>
          <a:xfrm>
            <a:off x="8001000" y="3017520"/>
            <a:ext cx="1645920" cy="1234440"/>
          </a:xfrm>
          <a:prstGeom prst="rect">
            <a:avLst/>
          </a:prstGeom>
          <a:noFill/>
          <a:ln/>
        </p:spPr>
        <p:txBody>
          <a:bodyPr wrap="square" lIns="0" tIns="0" rIns="0" bIns="0" rtlCol="0" anchor="ctr"/>
          <a:lstStyle/>
          <a:p>
            <a:pPr indent="0" marL="0">
              <a:buNone/>
            </a:pPr>
            <a:r>
              <a:rPr lang="en-US" sz="4800" b="1" dirty="0">
                <a:solidFill>
                  <a:srgbClr val="C98A12"/>
                </a:solidFill>
                <a:latin typeface="Cambria" pitchFamily="34" charset="0"/>
                <a:ea typeface="Cambria" pitchFamily="34" charset="-122"/>
                <a:cs typeface="Cambria" pitchFamily="34" charset="-120"/>
              </a:rPr>
              <a:t>22</a:t>
            </a:r>
            <a:endParaRPr lang="en-US" sz="4800" dirty="0"/>
          </a:p>
        </p:txBody>
      </p:sp>
      <p:sp>
        <p:nvSpPr>
          <p:cNvPr id="9" name="Text 6"/>
          <p:cNvSpPr/>
          <p:nvPr/>
        </p:nvSpPr>
        <p:spPr>
          <a:xfrm>
            <a:off x="9646920" y="3017520"/>
            <a:ext cx="1828800" cy="1234440"/>
          </a:xfrm>
          <a:prstGeom prst="rect">
            <a:avLst/>
          </a:prstGeom>
          <a:noFill/>
          <a:ln/>
        </p:spPr>
        <p:txBody>
          <a:bodyPr wrap="square" lIns="0" tIns="0" rIns="0" bIns="0" rtlCol="0" anchor="ctr"/>
          <a:lstStyle/>
          <a:p>
            <a:pPr indent="0" marL="0">
              <a:buNone/>
            </a:pPr>
            <a:r>
              <a:rPr lang="en-US" sz="1400" dirty="0">
                <a:solidFill>
                  <a:srgbClr val="1F2A44"/>
                </a:solidFill>
              </a:rPr>
              <a:t>schemes people qualify for, missed</a:t>
            </a:r>
            <a:endParaRPr lang="en-US" sz="1400" dirty="0"/>
          </a:p>
        </p:txBody>
      </p:sp>
      <p:sp>
        <p:nvSpPr>
          <p:cNvPr id="10" name="card"/>
          <p:cNvSpPr/>
          <p:nvPr/>
        </p:nvSpPr>
        <p:spPr>
          <a:xfrm>
            <a:off x="7772400" y="4526280"/>
            <a:ext cx="3840480" cy="1417320"/>
          </a:xfrm>
          <a:prstGeom prst="roundRect">
            <a:avLst>
              <a:gd name="adj" fmla="val 7742"/>
            </a:avLst>
          </a:prstGeom>
          <a:solidFill>
            <a:srgbClr val="FBF7F0"/>
          </a:solidFill>
          <a:ln w="12700">
            <a:solidFill>
              <a:srgbClr val="FBF7F0"/>
            </a:solidFill>
            <a:prstDash val="solid"/>
          </a:ln>
        </p:spPr>
      </p:sp>
      <p:sp>
        <p:nvSpPr>
          <p:cNvPr id="11" name="Text 8"/>
          <p:cNvSpPr/>
          <p:nvPr/>
        </p:nvSpPr>
        <p:spPr>
          <a:xfrm>
            <a:off x="8001000" y="4617720"/>
            <a:ext cx="1645920" cy="1234440"/>
          </a:xfrm>
          <a:prstGeom prst="rect">
            <a:avLst/>
          </a:prstGeom>
          <a:noFill/>
          <a:ln/>
        </p:spPr>
        <p:txBody>
          <a:bodyPr wrap="square" lIns="0" tIns="0" rIns="0" bIns="0" rtlCol="0" anchor="ctr"/>
          <a:lstStyle/>
          <a:p>
            <a:pPr indent="0" marL="0">
              <a:buNone/>
            </a:pPr>
            <a:r>
              <a:rPr lang="en-US" sz="4800" b="1" dirty="0">
                <a:solidFill>
                  <a:srgbClr val="1F2A44"/>
                </a:solidFill>
                <a:latin typeface="Cambria" pitchFamily="34" charset="0"/>
                <a:ea typeface="Cambria" pitchFamily="34" charset="-122"/>
                <a:cs typeface="Cambria" pitchFamily="34" charset="-120"/>
              </a:rPr>
              <a:t>66%</a:t>
            </a:r>
            <a:endParaRPr lang="en-US" sz="4800" dirty="0"/>
          </a:p>
        </p:txBody>
      </p:sp>
      <p:sp>
        <p:nvSpPr>
          <p:cNvPr id="12" name="Text 9"/>
          <p:cNvSpPr/>
          <p:nvPr/>
        </p:nvSpPr>
        <p:spPr>
          <a:xfrm>
            <a:off x="9646920" y="4617720"/>
            <a:ext cx="1828800" cy="1234440"/>
          </a:xfrm>
          <a:prstGeom prst="rect">
            <a:avLst/>
          </a:prstGeom>
          <a:noFill/>
          <a:ln/>
        </p:spPr>
        <p:txBody>
          <a:bodyPr wrap="square" lIns="0" tIns="0" rIns="0" bIns="0" rtlCol="0" anchor="ctr"/>
          <a:lstStyle/>
          <a:p>
            <a:pPr indent="0" marL="0">
              <a:buNone/>
            </a:pPr>
            <a:r>
              <a:rPr lang="en-US" sz="1400" dirty="0">
                <a:solidFill>
                  <a:srgbClr val="1F2A44"/>
                </a:solidFill>
              </a:rPr>
              <a:t>F1 for the LLM alone (rules: 100%)</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678"/>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Rules decide, the agent explains, code verifies</a:t>
            </a:r>
            <a:endParaRPr lang="en-US" sz="3000" dirty="0"/>
          </a:p>
        </p:txBody>
      </p:sp>
      <p:sp>
        <p:nvSpPr>
          <p:cNvPr id="3" name="card"/>
          <p:cNvSpPr/>
          <p:nvPr/>
        </p:nvSpPr>
        <p:spPr>
          <a:xfrm>
            <a:off x="548640" y="1371600"/>
            <a:ext cx="2606040" cy="4206240"/>
          </a:xfrm>
          <a:prstGeom prst="roundRect">
            <a:avLst>
              <a:gd name="adj" fmla="val 4211"/>
            </a:avLst>
          </a:prstGeom>
          <a:solidFill>
            <a:srgbClr val="FBF7F0"/>
          </a:solidFill>
          <a:ln w="12700">
            <a:solidFill>
              <a:srgbClr val="FBF7F0"/>
            </a:solidFill>
            <a:prstDash val="solid"/>
          </a:ln>
        </p:spPr>
      </p:sp>
      <p:sp>
        <p:nvSpPr>
          <p:cNvPr id="4" name="icon-circle"/>
          <p:cNvSpPr/>
          <p:nvPr/>
        </p:nvSpPr>
        <p:spPr>
          <a:xfrm>
            <a:off x="822960" y="1645920"/>
            <a:ext cx="868680" cy="868680"/>
          </a:xfrm>
          <a:prstGeom prst="ellipse">
            <a:avLst/>
          </a:prstGeom>
          <a:solidFill>
            <a:srgbClr val="1E8C5A"/>
          </a:solidFill>
          <a:ln w="12700">
            <a:solidFill>
              <a:srgbClr val="1E8C5A"/>
            </a:solidFill>
            <a:prstDash val="solid"/>
          </a:ln>
        </p:spPr>
      </p:sp>
      <p:pic>
        <p:nvPicPr>
          <p:cNvPr id="5" name="icon" descr="preencoded.png">    </p:cNvPr>
          <p:cNvPicPr>
            <a:picLocks noChangeAspect="1"/>
          </p:cNvPicPr>
          <p:nvPr/>
        </p:nvPicPr>
        <p:blipFill>
          <a:blip r:embed="rId1"/>
          <a:stretch>
            <a:fillRect/>
          </a:stretch>
        </p:blipFill>
        <p:spPr>
          <a:xfrm>
            <a:off x="1031443" y="1854403"/>
            <a:ext cx="451714" cy="451714"/>
          </a:xfrm>
          <a:prstGeom prst="rect">
            <a:avLst/>
          </a:prstGeom>
        </p:spPr>
      </p:pic>
      <p:sp>
        <p:nvSpPr>
          <p:cNvPr id="6" name="Text 3"/>
          <p:cNvSpPr/>
          <p:nvPr/>
        </p:nvSpPr>
        <p:spPr>
          <a:xfrm>
            <a:off x="2286000" y="1691640"/>
            <a:ext cx="640080" cy="457200"/>
          </a:xfrm>
          <a:prstGeom prst="rect">
            <a:avLst/>
          </a:prstGeom>
          <a:noFill/>
          <a:ln/>
        </p:spPr>
        <p:txBody>
          <a:bodyPr wrap="square" lIns="0" tIns="0" rIns="0" bIns="0" rtlCol="0" anchor="ctr"/>
          <a:lstStyle/>
          <a:p>
            <a:pPr algn="r" indent="0" marL="0">
              <a:buNone/>
            </a:pPr>
            <a:r>
              <a:rPr lang="en-US" sz="1800" b="1" dirty="0">
                <a:solidFill>
                  <a:srgbClr val="5E6678"/>
                </a:solidFill>
              </a:rPr>
              <a:t>01</a:t>
            </a:r>
            <a:endParaRPr lang="en-US" sz="1800" dirty="0"/>
          </a:p>
        </p:txBody>
      </p:sp>
      <p:sp>
        <p:nvSpPr>
          <p:cNvPr id="7" name="Text 4"/>
          <p:cNvSpPr/>
          <p:nvPr/>
        </p:nvSpPr>
        <p:spPr>
          <a:xfrm>
            <a:off x="822960" y="2697480"/>
            <a:ext cx="2103120" cy="822960"/>
          </a:xfrm>
          <a:prstGeom prst="rect">
            <a:avLst/>
          </a:prstGeom>
          <a:noFill/>
          <a:ln/>
        </p:spPr>
        <p:txBody>
          <a:bodyPr wrap="square" lIns="0" tIns="0" rIns="0" bIns="0" rtlCol="0" anchor="t"/>
          <a:lstStyle/>
          <a:p>
            <a:pPr indent="0" marL="0">
              <a:buNone/>
            </a:pPr>
            <a:r>
              <a:rPr lang="en-US" sz="2100" b="1" dirty="0">
                <a:solidFill>
                  <a:srgbClr val="1F2A44"/>
                </a:solidFill>
                <a:latin typeface="Cambria" pitchFamily="34" charset="0"/>
                <a:ea typeface="Cambria" pitchFamily="34" charset="-122"/>
                <a:cs typeface="Cambria" pitchFamily="34" charset="-120"/>
              </a:rPr>
              <a:t>Rules decide</a:t>
            </a:r>
            <a:endParaRPr lang="en-US" sz="2100" dirty="0"/>
          </a:p>
        </p:txBody>
      </p:sp>
      <p:sp>
        <p:nvSpPr>
          <p:cNvPr id="8" name="Text 5"/>
          <p:cNvSpPr/>
          <p:nvPr/>
        </p:nvSpPr>
        <p:spPr>
          <a:xfrm>
            <a:off x="822960" y="3520440"/>
            <a:ext cx="2103120" cy="1920240"/>
          </a:xfrm>
          <a:prstGeom prst="rect">
            <a:avLst/>
          </a:prstGeom>
          <a:noFill/>
          <a:ln/>
        </p:spPr>
        <p:txBody>
          <a:bodyPr wrap="square" lIns="0" tIns="0" rIns="0" bIns="0" rtlCol="0" anchor="t"/>
          <a:lstStyle/>
          <a:p>
            <a:pPr indent="0" marL="0">
              <a:buNone/>
            </a:pPr>
            <a:r>
              <a:rPr lang="en-US" sz="1450" dirty="0">
                <a:solidFill>
                  <a:srgbClr val="1F2A44"/>
                </a:solidFill>
              </a:rPr>
              <a:t>95 checks for 32 schemes, each with its official quote. Eligible, likely or not eligible, with the reason.</a:t>
            </a:r>
            <a:endParaRPr lang="en-US" sz="1450" dirty="0"/>
          </a:p>
        </p:txBody>
      </p:sp>
      <p:sp>
        <p:nvSpPr>
          <p:cNvPr id="9" name="card"/>
          <p:cNvSpPr/>
          <p:nvPr/>
        </p:nvSpPr>
        <p:spPr>
          <a:xfrm>
            <a:off x="3364992" y="1371600"/>
            <a:ext cx="2606040" cy="4206240"/>
          </a:xfrm>
          <a:prstGeom prst="roundRect">
            <a:avLst>
              <a:gd name="adj" fmla="val 4211"/>
            </a:avLst>
          </a:prstGeom>
          <a:solidFill>
            <a:srgbClr val="FBF7F0"/>
          </a:solidFill>
          <a:ln w="12700">
            <a:solidFill>
              <a:srgbClr val="FBF7F0"/>
            </a:solidFill>
            <a:prstDash val="solid"/>
          </a:ln>
        </p:spPr>
      </p:sp>
      <p:sp>
        <p:nvSpPr>
          <p:cNvPr id="10" name="icon-circle"/>
          <p:cNvSpPr/>
          <p:nvPr/>
        </p:nvSpPr>
        <p:spPr>
          <a:xfrm>
            <a:off x="3639312" y="1645920"/>
            <a:ext cx="868680" cy="868680"/>
          </a:xfrm>
          <a:prstGeom prst="ellipse">
            <a:avLst/>
          </a:prstGeom>
          <a:solidFill>
            <a:srgbClr val="E07A2E"/>
          </a:solidFill>
          <a:ln w="12700">
            <a:solidFill>
              <a:srgbClr val="E07A2E"/>
            </a:solidFill>
            <a:prstDash val="solid"/>
          </a:ln>
        </p:spPr>
      </p:sp>
      <p:pic>
        <p:nvPicPr>
          <p:cNvPr id="11" name="icon" descr="preencoded.png">    </p:cNvPr>
          <p:cNvPicPr>
            <a:picLocks noChangeAspect="1"/>
          </p:cNvPicPr>
          <p:nvPr/>
        </p:nvPicPr>
        <p:blipFill>
          <a:blip r:embed="rId2"/>
          <a:stretch>
            <a:fillRect/>
          </a:stretch>
        </p:blipFill>
        <p:spPr>
          <a:xfrm>
            <a:off x="3847795" y="1854403"/>
            <a:ext cx="451714" cy="451714"/>
          </a:xfrm>
          <a:prstGeom prst="rect">
            <a:avLst/>
          </a:prstGeom>
        </p:spPr>
      </p:pic>
      <p:sp>
        <p:nvSpPr>
          <p:cNvPr id="12" name="Text 8"/>
          <p:cNvSpPr/>
          <p:nvPr/>
        </p:nvSpPr>
        <p:spPr>
          <a:xfrm>
            <a:off x="5102352" y="1691640"/>
            <a:ext cx="640080" cy="457200"/>
          </a:xfrm>
          <a:prstGeom prst="rect">
            <a:avLst/>
          </a:prstGeom>
          <a:noFill/>
          <a:ln/>
        </p:spPr>
        <p:txBody>
          <a:bodyPr wrap="square" lIns="0" tIns="0" rIns="0" bIns="0" rtlCol="0" anchor="ctr"/>
          <a:lstStyle/>
          <a:p>
            <a:pPr algn="r" indent="0" marL="0">
              <a:buNone/>
            </a:pPr>
            <a:r>
              <a:rPr lang="en-US" sz="1800" b="1" dirty="0">
                <a:solidFill>
                  <a:srgbClr val="5E6678"/>
                </a:solidFill>
              </a:rPr>
              <a:t>02</a:t>
            </a:r>
            <a:endParaRPr lang="en-US" sz="1800" dirty="0"/>
          </a:p>
        </p:txBody>
      </p:sp>
      <p:sp>
        <p:nvSpPr>
          <p:cNvPr id="13" name="Text 9"/>
          <p:cNvSpPr/>
          <p:nvPr/>
        </p:nvSpPr>
        <p:spPr>
          <a:xfrm>
            <a:off x="3639312" y="2697480"/>
            <a:ext cx="2103120" cy="822960"/>
          </a:xfrm>
          <a:prstGeom prst="rect">
            <a:avLst/>
          </a:prstGeom>
          <a:noFill/>
          <a:ln/>
        </p:spPr>
        <p:txBody>
          <a:bodyPr wrap="square" lIns="0" tIns="0" rIns="0" bIns="0" rtlCol="0" anchor="t"/>
          <a:lstStyle/>
          <a:p>
            <a:pPr indent="0" marL="0">
              <a:buNone/>
            </a:pPr>
            <a:r>
              <a:rPr lang="en-US" sz="2100" b="1" dirty="0">
                <a:solidFill>
                  <a:srgbClr val="1F2A44"/>
                </a:solidFill>
                <a:latin typeface="Cambria" pitchFamily="34" charset="0"/>
                <a:ea typeface="Cambria" pitchFamily="34" charset="-122"/>
                <a:cs typeface="Cambria" pitchFamily="34" charset="-120"/>
              </a:rPr>
              <a:t>Retrieval informs</a:t>
            </a:r>
            <a:endParaRPr lang="en-US" sz="2100" dirty="0"/>
          </a:p>
        </p:txBody>
      </p:sp>
      <p:sp>
        <p:nvSpPr>
          <p:cNvPr id="14" name="Text 10"/>
          <p:cNvSpPr/>
          <p:nvPr/>
        </p:nvSpPr>
        <p:spPr>
          <a:xfrm>
            <a:off x="3639312" y="3520440"/>
            <a:ext cx="2103120" cy="1920240"/>
          </a:xfrm>
          <a:prstGeom prst="rect">
            <a:avLst/>
          </a:prstGeom>
          <a:noFill/>
          <a:ln/>
        </p:spPr>
        <p:txBody>
          <a:bodyPr wrap="square" lIns="0" tIns="0" rIns="0" bIns="0" rtlCol="0" anchor="t"/>
          <a:lstStyle/>
          <a:p>
            <a:pPr indent="0" marL="0">
              <a:buNone/>
            </a:pPr>
            <a:r>
              <a:rPr lang="en-US" sz="1450" dirty="0">
                <a:solidFill>
                  <a:srgbClr val="1F2A44"/>
                </a:solidFill>
              </a:rPr>
              <a:t>522 official passages from myScheme, searched by meaning and keywords. Every fact carries a citation tag.</a:t>
            </a:r>
            <a:endParaRPr lang="en-US" sz="1450" dirty="0"/>
          </a:p>
        </p:txBody>
      </p:sp>
      <p:sp>
        <p:nvSpPr>
          <p:cNvPr id="15" name="card"/>
          <p:cNvSpPr/>
          <p:nvPr/>
        </p:nvSpPr>
        <p:spPr>
          <a:xfrm>
            <a:off x="6181344" y="1371600"/>
            <a:ext cx="2606040" cy="4206240"/>
          </a:xfrm>
          <a:prstGeom prst="roundRect">
            <a:avLst>
              <a:gd name="adj" fmla="val 4211"/>
            </a:avLst>
          </a:prstGeom>
          <a:solidFill>
            <a:srgbClr val="FBF7F0"/>
          </a:solidFill>
          <a:ln w="12700">
            <a:solidFill>
              <a:srgbClr val="FBF7F0"/>
            </a:solidFill>
            <a:prstDash val="solid"/>
          </a:ln>
        </p:spPr>
      </p:sp>
      <p:sp>
        <p:nvSpPr>
          <p:cNvPr id="16" name="icon-circle"/>
          <p:cNvSpPr/>
          <p:nvPr/>
        </p:nvSpPr>
        <p:spPr>
          <a:xfrm>
            <a:off x="6455664" y="1645920"/>
            <a:ext cx="868680" cy="868680"/>
          </a:xfrm>
          <a:prstGeom prst="ellipse">
            <a:avLst/>
          </a:prstGeom>
          <a:solidFill>
            <a:srgbClr val="1F2A44"/>
          </a:solidFill>
          <a:ln w="12700">
            <a:solidFill>
              <a:srgbClr val="1F2A44"/>
            </a:solidFill>
            <a:prstDash val="solid"/>
          </a:ln>
        </p:spPr>
      </p:sp>
      <p:pic>
        <p:nvPicPr>
          <p:cNvPr id="17" name="icon" descr="preencoded.png">    </p:cNvPr>
          <p:cNvPicPr>
            <a:picLocks noChangeAspect="1"/>
          </p:cNvPicPr>
          <p:nvPr/>
        </p:nvPicPr>
        <p:blipFill>
          <a:blip r:embed="rId3"/>
          <a:stretch>
            <a:fillRect/>
          </a:stretch>
        </p:blipFill>
        <p:spPr>
          <a:xfrm>
            <a:off x="6664147" y="1854403"/>
            <a:ext cx="451714" cy="451714"/>
          </a:xfrm>
          <a:prstGeom prst="rect">
            <a:avLst/>
          </a:prstGeom>
        </p:spPr>
      </p:pic>
      <p:sp>
        <p:nvSpPr>
          <p:cNvPr id="18" name="Text 13"/>
          <p:cNvSpPr/>
          <p:nvPr/>
        </p:nvSpPr>
        <p:spPr>
          <a:xfrm>
            <a:off x="7918704" y="1691640"/>
            <a:ext cx="640080" cy="457200"/>
          </a:xfrm>
          <a:prstGeom prst="rect">
            <a:avLst/>
          </a:prstGeom>
          <a:noFill/>
          <a:ln/>
        </p:spPr>
        <p:txBody>
          <a:bodyPr wrap="square" lIns="0" tIns="0" rIns="0" bIns="0" rtlCol="0" anchor="ctr"/>
          <a:lstStyle/>
          <a:p>
            <a:pPr algn="r" indent="0" marL="0">
              <a:buNone/>
            </a:pPr>
            <a:r>
              <a:rPr lang="en-US" sz="1800" b="1" dirty="0">
                <a:solidFill>
                  <a:srgbClr val="5E6678"/>
                </a:solidFill>
              </a:rPr>
              <a:t>03</a:t>
            </a:r>
            <a:endParaRPr lang="en-US" sz="1800" dirty="0"/>
          </a:p>
        </p:txBody>
      </p:sp>
      <p:sp>
        <p:nvSpPr>
          <p:cNvPr id="19" name="Text 14"/>
          <p:cNvSpPr/>
          <p:nvPr/>
        </p:nvSpPr>
        <p:spPr>
          <a:xfrm>
            <a:off x="6455664" y="2697480"/>
            <a:ext cx="2103120" cy="822960"/>
          </a:xfrm>
          <a:prstGeom prst="rect">
            <a:avLst/>
          </a:prstGeom>
          <a:noFill/>
          <a:ln/>
        </p:spPr>
        <p:txBody>
          <a:bodyPr wrap="square" lIns="0" tIns="0" rIns="0" bIns="0" rtlCol="0" anchor="t"/>
          <a:lstStyle/>
          <a:p>
            <a:pPr indent="0" marL="0">
              <a:buNone/>
            </a:pPr>
            <a:r>
              <a:rPr lang="en-US" sz="2100" b="1" dirty="0">
                <a:solidFill>
                  <a:srgbClr val="1F2A44"/>
                </a:solidFill>
                <a:latin typeface="Cambria" pitchFamily="34" charset="0"/>
                <a:ea typeface="Cambria" pitchFamily="34" charset="-122"/>
                <a:cs typeface="Cambria" pitchFamily="34" charset="-120"/>
              </a:rPr>
              <a:t>One agent explains</a:t>
            </a:r>
            <a:endParaRPr lang="en-US" sz="2100" dirty="0"/>
          </a:p>
        </p:txBody>
      </p:sp>
      <p:sp>
        <p:nvSpPr>
          <p:cNvPr id="20" name="Text 15"/>
          <p:cNvSpPr/>
          <p:nvPr/>
        </p:nvSpPr>
        <p:spPr>
          <a:xfrm>
            <a:off x="6455664" y="3520440"/>
            <a:ext cx="2103120" cy="1920240"/>
          </a:xfrm>
          <a:prstGeom prst="rect">
            <a:avLst/>
          </a:prstGeom>
          <a:noFill/>
          <a:ln/>
        </p:spPr>
        <p:txBody>
          <a:bodyPr wrap="square" lIns="0" tIns="0" rIns="0" bIns="0" rtlCol="0" anchor="t"/>
          <a:lstStyle/>
          <a:p>
            <a:pPr indent="0" marL="0">
              <a:buNone/>
            </a:pPr>
            <a:r>
              <a:rPr lang="en-US" sz="1450" dirty="0">
                <a:solidFill>
                  <a:srgbClr val="1F2A44"/>
                </a:solidFill>
              </a:rPr>
              <a:t>A single CrewAI agent picks from five tools, then answers in plain English or Hindi.</a:t>
            </a:r>
            <a:endParaRPr lang="en-US" sz="1450" dirty="0"/>
          </a:p>
        </p:txBody>
      </p:sp>
      <p:sp>
        <p:nvSpPr>
          <p:cNvPr id="21" name="card"/>
          <p:cNvSpPr/>
          <p:nvPr/>
        </p:nvSpPr>
        <p:spPr>
          <a:xfrm>
            <a:off x="8997696" y="1371600"/>
            <a:ext cx="2606040" cy="4206240"/>
          </a:xfrm>
          <a:prstGeom prst="roundRect">
            <a:avLst>
              <a:gd name="adj" fmla="val 4211"/>
            </a:avLst>
          </a:prstGeom>
          <a:solidFill>
            <a:srgbClr val="FBF7F0"/>
          </a:solidFill>
          <a:ln w="12700">
            <a:solidFill>
              <a:srgbClr val="FBF7F0"/>
            </a:solidFill>
            <a:prstDash val="solid"/>
          </a:ln>
        </p:spPr>
      </p:sp>
      <p:sp>
        <p:nvSpPr>
          <p:cNvPr id="22" name="icon-circle"/>
          <p:cNvSpPr/>
          <p:nvPr/>
        </p:nvSpPr>
        <p:spPr>
          <a:xfrm>
            <a:off x="9272016" y="1645920"/>
            <a:ext cx="868680" cy="868680"/>
          </a:xfrm>
          <a:prstGeom prst="ellipse">
            <a:avLst/>
          </a:prstGeom>
          <a:solidFill>
            <a:srgbClr val="B4473A"/>
          </a:solidFill>
          <a:ln w="12700">
            <a:solidFill>
              <a:srgbClr val="B4473A"/>
            </a:solidFill>
            <a:prstDash val="solid"/>
          </a:ln>
        </p:spPr>
      </p:sp>
      <p:pic>
        <p:nvPicPr>
          <p:cNvPr id="23" name="icon" descr="preencoded.png">    </p:cNvPr>
          <p:cNvPicPr>
            <a:picLocks noChangeAspect="1"/>
          </p:cNvPicPr>
          <p:nvPr/>
        </p:nvPicPr>
        <p:blipFill>
          <a:blip r:embed="rId4"/>
          <a:stretch>
            <a:fillRect/>
          </a:stretch>
        </p:blipFill>
        <p:spPr>
          <a:xfrm>
            <a:off x="9480499" y="1854403"/>
            <a:ext cx="451714" cy="451714"/>
          </a:xfrm>
          <a:prstGeom prst="rect">
            <a:avLst/>
          </a:prstGeom>
        </p:spPr>
      </p:pic>
      <p:sp>
        <p:nvSpPr>
          <p:cNvPr id="24" name="Text 18"/>
          <p:cNvSpPr/>
          <p:nvPr/>
        </p:nvSpPr>
        <p:spPr>
          <a:xfrm>
            <a:off x="10735056" y="1691640"/>
            <a:ext cx="640080" cy="457200"/>
          </a:xfrm>
          <a:prstGeom prst="rect">
            <a:avLst/>
          </a:prstGeom>
          <a:noFill/>
          <a:ln/>
        </p:spPr>
        <p:txBody>
          <a:bodyPr wrap="square" lIns="0" tIns="0" rIns="0" bIns="0" rtlCol="0" anchor="ctr"/>
          <a:lstStyle/>
          <a:p>
            <a:pPr algn="r" indent="0" marL="0">
              <a:buNone/>
            </a:pPr>
            <a:r>
              <a:rPr lang="en-US" sz="1800" b="1" dirty="0">
                <a:solidFill>
                  <a:srgbClr val="5E6678"/>
                </a:solidFill>
              </a:rPr>
              <a:t>04</a:t>
            </a:r>
            <a:endParaRPr lang="en-US" sz="1800" dirty="0"/>
          </a:p>
        </p:txBody>
      </p:sp>
      <p:sp>
        <p:nvSpPr>
          <p:cNvPr id="25" name="Text 19"/>
          <p:cNvSpPr/>
          <p:nvPr/>
        </p:nvSpPr>
        <p:spPr>
          <a:xfrm>
            <a:off x="9272016" y="2697480"/>
            <a:ext cx="2103120" cy="822960"/>
          </a:xfrm>
          <a:prstGeom prst="rect">
            <a:avLst/>
          </a:prstGeom>
          <a:noFill/>
          <a:ln/>
        </p:spPr>
        <p:txBody>
          <a:bodyPr wrap="square" lIns="0" tIns="0" rIns="0" bIns="0" rtlCol="0" anchor="t"/>
          <a:lstStyle/>
          <a:p>
            <a:pPr indent="0" marL="0">
              <a:buNone/>
            </a:pPr>
            <a:r>
              <a:rPr lang="en-US" sz="2100" b="1" dirty="0">
                <a:solidFill>
                  <a:srgbClr val="1F2A44"/>
                </a:solidFill>
                <a:latin typeface="Cambria" pitchFamily="34" charset="0"/>
                <a:ea typeface="Cambria" pitchFamily="34" charset="-122"/>
                <a:cs typeface="Cambria" pitchFamily="34" charset="-120"/>
              </a:rPr>
              <a:t>Code verifies</a:t>
            </a:r>
            <a:endParaRPr lang="en-US" sz="2100" dirty="0"/>
          </a:p>
        </p:txBody>
      </p:sp>
      <p:sp>
        <p:nvSpPr>
          <p:cNvPr id="26" name="Text 20"/>
          <p:cNvSpPr/>
          <p:nvPr/>
        </p:nvSpPr>
        <p:spPr>
          <a:xfrm>
            <a:off x="9272016" y="3520440"/>
            <a:ext cx="2103120" cy="1920240"/>
          </a:xfrm>
          <a:prstGeom prst="rect">
            <a:avLst/>
          </a:prstGeom>
          <a:noFill/>
          <a:ln/>
        </p:spPr>
        <p:txBody>
          <a:bodyPr wrap="square" lIns="0" tIns="0" rIns="0" bIns="0" rtlCol="0" anchor="t"/>
          <a:lstStyle/>
          <a:p>
            <a:pPr indent="0" marL="0">
              <a:buNone/>
            </a:pPr>
            <a:r>
              <a:rPr lang="en-US" sz="1450" dirty="0">
                <a:solidFill>
                  <a:srgbClr val="1F2A44"/>
                </a:solidFill>
              </a:rPr>
              <a:t>A guardrail rejects invented sources, schemes or websites, overruled verdicts and wrong totals.</a:t>
            </a:r>
            <a:endParaRPr lang="en-US" sz="1450" dirty="0"/>
          </a:p>
        </p:txBody>
      </p:sp>
      <p:sp>
        <p:nvSpPr>
          <p:cNvPr id="27" name="Text 21"/>
          <p:cNvSpPr/>
          <p:nvPr/>
        </p:nvSpPr>
        <p:spPr>
          <a:xfrm>
            <a:off x="548640" y="5760720"/>
            <a:ext cx="11064240" cy="457200"/>
          </a:xfrm>
          <a:prstGeom prst="rect">
            <a:avLst/>
          </a:prstGeom>
          <a:noFill/>
          <a:ln/>
        </p:spPr>
        <p:txBody>
          <a:bodyPr wrap="square" lIns="0" tIns="0" rIns="0" bIns="0" rtlCol="0" anchor="ctr"/>
          <a:lstStyle/>
          <a:p>
            <a:pPr indent="0" marL="0">
              <a:buNone/>
            </a:pPr>
            <a:r>
              <a:rPr lang="en-US" sz="1400" i="1" dirty="0">
                <a:solidFill>
                  <a:srgbClr val="E07A2E"/>
                </a:solidFill>
              </a:rPr>
              <a:t>Why one agent? One user, one conversation, one decision: which tools to call. Extra agents add hand-offs, tokens and blame-shifting.</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67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Architecture</a:t>
            </a:r>
            <a:endParaRPr lang="en-US" sz="3000" dirty="0"/>
          </a:p>
        </p:txBody>
      </p:sp>
      <p:pic>
        <p:nvPicPr>
          <p:cNvPr id="3" name="architecture.png" descr="/Users/mahaveer/Desktop/AABA/schemesathi/docs/architecture.png">    </p:cNvPr>
          <p:cNvPicPr>
            <a:picLocks noChangeAspect="1"/>
          </p:cNvPicPr>
          <p:nvPr/>
        </p:nvPicPr>
        <p:blipFill>
          <a:blip r:embed="rId1"/>
          <a:stretch>
            <a:fillRect/>
          </a:stretch>
        </p:blipFill>
        <p:spPr>
          <a:xfrm>
            <a:off x="2216126" y="1188720"/>
            <a:ext cx="7729268" cy="5120640"/>
          </a:xfrm>
          <a:prstGeom prst="rect">
            <a:avLst/>
          </a:prstGeom>
        </p:spPr>
      </p:pic>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67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One agent, five tools, a model chain that never stalls</a:t>
            </a:r>
            <a:endParaRPr lang="en-US" sz="3000" dirty="0"/>
          </a:p>
        </p:txBody>
      </p:sp>
      <p:sp>
        <p:nvSpPr>
          <p:cNvPr id="3" name="tool-pill"/>
          <p:cNvSpPr/>
          <p:nvPr/>
        </p:nvSpPr>
        <p:spPr>
          <a:xfrm>
            <a:off x="548640" y="1325880"/>
            <a:ext cx="2743200" cy="640080"/>
          </a:xfrm>
          <a:prstGeom prst="roundRect">
            <a:avLst>
              <a:gd name="adj" fmla="val 50000"/>
            </a:avLst>
          </a:prstGeom>
          <a:solidFill>
            <a:srgbClr val="1E8C5A"/>
          </a:solidFill>
          <a:ln w="12700">
            <a:solidFill>
              <a:srgbClr val="1E8C5A"/>
            </a:solidFill>
            <a:prstDash val="solid"/>
          </a:ln>
        </p:spPr>
      </p:sp>
      <p:sp>
        <p:nvSpPr>
          <p:cNvPr id="4" name="Text 2"/>
          <p:cNvSpPr/>
          <p:nvPr/>
        </p:nvSpPr>
        <p:spPr>
          <a:xfrm>
            <a:off x="548640" y="1325880"/>
            <a:ext cx="2743200" cy="640080"/>
          </a:xfrm>
          <a:prstGeom prst="rect">
            <a:avLst/>
          </a:prstGeom>
          <a:noFill/>
          <a:ln/>
        </p:spPr>
        <p:txBody>
          <a:bodyPr wrap="square" lIns="0" tIns="0" rIns="0" bIns="0" rtlCol="0" anchor="ctr"/>
          <a:lstStyle/>
          <a:p>
            <a:pPr algn="ctr" indent="0" marL="0">
              <a:buNone/>
            </a:pPr>
            <a:r>
              <a:rPr lang="en-US" sz="1500" b="1" dirty="0">
                <a:solidFill>
                  <a:srgbClr val="FFFFFF"/>
                </a:solidFill>
              </a:rPr>
              <a:t>check_eligibility</a:t>
            </a:r>
            <a:endParaRPr lang="en-US" sz="1500" dirty="0"/>
          </a:p>
        </p:txBody>
      </p:sp>
      <p:sp>
        <p:nvSpPr>
          <p:cNvPr id="5" name="Text 3"/>
          <p:cNvSpPr/>
          <p:nvPr/>
        </p:nvSpPr>
        <p:spPr>
          <a:xfrm>
            <a:off x="3520440" y="1325880"/>
            <a:ext cx="3931920" cy="640080"/>
          </a:xfrm>
          <a:prstGeom prst="rect">
            <a:avLst/>
          </a:prstGeom>
          <a:noFill/>
          <a:ln/>
        </p:spPr>
        <p:txBody>
          <a:bodyPr wrap="square" lIns="0" tIns="0" rIns="0" bIns="0" rtlCol="0" anchor="ctr"/>
          <a:lstStyle/>
          <a:p>
            <a:pPr indent="0" marL="0">
              <a:buNone/>
            </a:pPr>
            <a:r>
              <a:rPr lang="en-US" sz="1450" dirty="0">
                <a:solidFill>
                  <a:srgbClr val="1F2A44"/>
                </a:solidFill>
              </a:rPr>
              <a:t>Verdicts and reasons from the rule engine, with citation tags</a:t>
            </a:r>
            <a:endParaRPr lang="en-US" sz="1450" dirty="0"/>
          </a:p>
        </p:txBody>
      </p:sp>
      <p:sp>
        <p:nvSpPr>
          <p:cNvPr id="6" name="tool-pill"/>
          <p:cNvSpPr/>
          <p:nvPr/>
        </p:nvSpPr>
        <p:spPr>
          <a:xfrm>
            <a:off x="548640" y="2221992"/>
            <a:ext cx="2743200" cy="640080"/>
          </a:xfrm>
          <a:prstGeom prst="roundRect">
            <a:avLst>
              <a:gd name="adj" fmla="val 50000"/>
            </a:avLst>
          </a:prstGeom>
          <a:solidFill>
            <a:srgbClr val="1E8C5A"/>
          </a:solidFill>
          <a:ln w="12700">
            <a:solidFill>
              <a:srgbClr val="1E8C5A"/>
            </a:solidFill>
            <a:prstDash val="solid"/>
          </a:ln>
        </p:spPr>
      </p:sp>
      <p:sp>
        <p:nvSpPr>
          <p:cNvPr id="7" name="Text 5"/>
          <p:cNvSpPr/>
          <p:nvPr/>
        </p:nvSpPr>
        <p:spPr>
          <a:xfrm>
            <a:off x="548640" y="2221992"/>
            <a:ext cx="2743200" cy="640080"/>
          </a:xfrm>
          <a:prstGeom prst="rect">
            <a:avLst/>
          </a:prstGeom>
          <a:noFill/>
          <a:ln/>
        </p:spPr>
        <p:txBody>
          <a:bodyPr wrap="square" lIns="0" tIns="0" rIns="0" bIns="0" rtlCol="0" anchor="ctr"/>
          <a:lstStyle/>
          <a:p>
            <a:pPr algn="ctr" indent="0" marL="0">
              <a:buNone/>
            </a:pPr>
            <a:r>
              <a:rPr lang="en-US" sz="1500" b="1" dirty="0">
                <a:solidFill>
                  <a:srgbClr val="FFFFFF"/>
                </a:solidFill>
              </a:rPr>
              <a:t>benefit_estimate</a:t>
            </a:r>
            <a:endParaRPr lang="en-US" sz="1500" dirty="0"/>
          </a:p>
        </p:txBody>
      </p:sp>
      <p:sp>
        <p:nvSpPr>
          <p:cNvPr id="8" name="Text 6"/>
          <p:cNvSpPr/>
          <p:nvPr/>
        </p:nvSpPr>
        <p:spPr>
          <a:xfrm>
            <a:off x="3520440" y="2221992"/>
            <a:ext cx="3931920" cy="640080"/>
          </a:xfrm>
          <a:prstGeom prst="rect">
            <a:avLst/>
          </a:prstGeom>
          <a:noFill/>
          <a:ln/>
        </p:spPr>
        <p:txBody>
          <a:bodyPr wrap="square" lIns="0" tIns="0" rIns="0" bIns="0" rtlCol="0" anchor="ctr"/>
          <a:lstStyle/>
          <a:p>
            <a:pPr indent="0" marL="0">
              <a:buNone/>
            </a:pPr>
            <a:r>
              <a:rPr lang="en-US" sz="1450" dirty="0">
                <a:solidFill>
                  <a:srgbClr val="1F2A44"/>
                </a:solidFill>
              </a:rPr>
              <a:t>Yearly cash total plus one-time and future benefits</a:t>
            </a:r>
            <a:endParaRPr lang="en-US" sz="1450" dirty="0"/>
          </a:p>
        </p:txBody>
      </p:sp>
      <p:sp>
        <p:nvSpPr>
          <p:cNvPr id="9" name="tool-pill"/>
          <p:cNvSpPr/>
          <p:nvPr/>
        </p:nvSpPr>
        <p:spPr>
          <a:xfrm>
            <a:off x="548640" y="3118104"/>
            <a:ext cx="2743200" cy="640080"/>
          </a:xfrm>
          <a:prstGeom prst="roundRect">
            <a:avLst>
              <a:gd name="adj" fmla="val 50000"/>
            </a:avLst>
          </a:prstGeom>
          <a:solidFill>
            <a:srgbClr val="E07A2E"/>
          </a:solidFill>
          <a:ln w="12700">
            <a:solidFill>
              <a:srgbClr val="E07A2E"/>
            </a:solidFill>
            <a:prstDash val="solid"/>
          </a:ln>
        </p:spPr>
      </p:sp>
      <p:sp>
        <p:nvSpPr>
          <p:cNvPr id="10" name="Text 8"/>
          <p:cNvSpPr/>
          <p:nvPr/>
        </p:nvSpPr>
        <p:spPr>
          <a:xfrm>
            <a:off x="548640" y="3118104"/>
            <a:ext cx="2743200" cy="640080"/>
          </a:xfrm>
          <a:prstGeom prst="rect">
            <a:avLst/>
          </a:prstGeom>
          <a:noFill/>
          <a:ln/>
        </p:spPr>
        <p:txBody>
          <a:bodyPr wrap="square" lIns="0" tIns="0" rIns="0" bIns="0" rtlCol="0" anchor="ctr"/>
          <a:lstStyle/>
          <a:p>
            <a:pPr algn="ctr" indent="0" marL="0">
              <a:buNone/>
            </a:pPr>
            <a:r>
              <a:rPr lang="en-US" sz="1500" b="1" dirty="0">
                <a:solidFill>
                  <a:srgbClr val="FFFFFF"/>
                </a:solidFill>
              </a:rPr>
              <a:t>search_schemes</a:t>
            </a:r>
            <a:endParaRPr lang="en-US" sz="1500" dirty="0"/>
          </a:p>
        </p:txBody>
      </p:sp>
      <p:sp>
        <p:nvSpPr>
          <p:cNvPr id="11" name="Text 9"/>
          <p:cNvSpPr/>
          <p:nvPr/>
        </p:nvSpPr>
        <p:spPr>
          <a:xfrm>
            <a:off x="3520440" y="3118104"/>
            <a:ext cx="3931920" cy="640080"/>
          </a:xfrm>
          <a:prstGeom prst="rect">
            <a:avLst/>
          </a:prstGeom>
          <a:noFill/>
          <a:ln/>
        </p:spPr>
        <p:txBody>
          <a:bodyPr wrap="square" lIns="0" tIns="0" rIns="0" bIns="0" rtlCol="0" anchor="ctr"/>
          <a:lstStyle/>
          <a:p>
            <a:pPr indent="0" marL="0">
              <a:buNone/>
            </a:pPr>
            <a:r>
              <a:rPr lang="en-US" sz="1450" dirty="0">
                <a:solidFill>
                  <a:srgbClr val="1F2A44"/>
                </a:solidFill>
              </a:rPr>
              <a:t>Top official passages: 0.9 meaning + 0.1 keywords + intent boost</a:t>
            </a:r>
            <a:endParaRPr lang="en-US" sz="1450" dirty="0"/>
          </a:p>
        </p:txBody>
      </p:sp>
      <p:sp>
        <p:nvSpPr>
          <p:cNvPr id="12" name="tool-pill"/>
          <p:cNvSpPr/>
          <p:nvPr/>
        </p:nvSpPr>
        <p:spPr>
          <a:xfrm>
            <a:off x="548640" y="4014216"/>
            <a:ext cx="2743200" cy="640080"/>
          </a:xfrm>
          <a:prstGeom prst="roundRect">
            <a:avLst>
              <a:gd name="adj" fmla="val 50000"/>
            </a:avLst>
          </a:prstGeom>
          <a:solidFill>
            <a:srgbClr val="E07A2E"/>
          </a:solidFill>
          <a:ln w="12700">
            <a:solidFill>
              <a:srgbClr val="E07A2E"/>
            </a:solidFill>
            <a:prstDash val="solid"/>
          </a:ln>
        </p:spPr>
      </p:sp>
      <p:sp>
        <p:nvSpPr>
          <p:cNvPr id="13" name="Text 11"/>
          <p:cNvSpPr/>
          <p:nvPr/>
        </p:nvSpPr>
        <p:spPr>
          <a:xfrm>
            <a:off x="548640" y="4014216"/>
            <a:ext cx="2743200" cy="640080"/>
          </a:xfrm>
          <a:prstGeom prst="rect">
            <a:avLst/>
          </a:prstGeom>
          <a:noFill/>
          <a:ln/>
        </p:spPr>
        <p:txBody>
          <a:bodyPr wrap="square" lIns="0" tIns="0" rIns="0" bIns="0" rtlCol="0" anchor="ctr"/>
          <a:lstStyle/>
          <a:p>
            <a:pPr algn="ctr" indent="0" marL="0">
              <a:buNone/>
            </a:pPr>
            <a:r>
              <a:rPr lang="en-US" sz="1500" b="1" dirty="0">
                <a:solidFill>
                  <a:srgbClr val="FFFFFF"/>
                </a:solidFill>
              </a:rPr>
              <a:t>scheme_section</a:t>
            </a:r>
            <a:endParaRPr lang="en-US" sz="1500" dirty="0"/>
          </a:p>
        </p:txBody>
      </p:sp>
      <p:sp>
        <p:nvSpPr>
          <p:cNvPr id="14" name="Text 12"/>
          <p:cNvSpPr/>
          <p:nvPr/>
        </p:nvSpPr>
        <p:spPr>
          <a:xfrm>
            <a:off x="3520440" y="4014216"/>
            <a:ext cx="3931920" cy="640080"/>
          </a:xfrm>
          <a:prstGeom prst="rect">
            <a:avLst/>
          </a:prstGeom>
          <a:noFill/>
          <a:ln/>
        </p:spPr>
        <p:txBody>
          <a:bodyPr wrap="square" lIns="0" tIns="0" rIns="0" bIns="0" rtlCol="0" anchor="ctr"/>
          <a:lstStyle/>
          <a:p>
            <a:pPr indent="0" marL="0">
              <a:buNone/>
            </a:pPr>
            <a:r>
              <a:rPr lang="en-US" sz="1450" dirty="0">
                <a:solidFill>
                  <a:srgbClr val="1F2A44"/>
                </a:solidFill>
              </a:rPr>
              <a:t>Exact text of Benefits, Eligibility, Application or Documents</a:t>
            </a:r>
            <a:endParaRPr lang="en-US" sz="1450" dirty="0"/>
          </a:p>
        </p:txBody>
      </p:sp>
      <p:sp>
        <p:nvSpPr>
          <p:cNvPr id="15" name="tool-pill"/>
          <p:cNvSpPr/>
          <p:nvPr/>
        </p:nvSpPr>
        <p:spPr>
          <a:xfrm>
            <a:off x="548640" y="4910328"/>
            <a:ext cx="2743200" cy="640080"/>
          </a:xfrm>
          <a:prstGeom prst="roundRect">
            <a:avLst>
              <a:gd name="adj" fmla="val 50000"/>
            </a:avLst>
          </a:prstGeom>
          <a:solidFill>
            <a:srgbClr val="E07A2E"/>
          </a:solidFill>
          <a:ln w="12700">
            <a:solidFill>
              <a:srgbClr val="E07A2E"/>
            </a:solidFill>
            <a:prstDash val="solid"/>
          </a:ln>
        </p:spPr>
      </p:sp>
      <p:sp>
        <p:nvSpPr>
          <p:cNvPr id="16" name="Text 14"/>
          <p:cNvSpPr/>
          <p:nvPr/>
        </p:nvSpPr>
        <p:spPr>
          <a:xfrm>
            <a:off x="548640" y="4910328"/>
            <a:ext cx="2743200" cy="640080"/>
          </a:xfrm>
          <a:prstGeom prst="rect">
            <a:avLst/>
          </a:prstGeom>
          <a:noFill/>
          <a:ln/>
        </p:spPr>
        <p:txBody>
          <a:bodyPr wrap="square" lIns="0" tIns="0" rIns="0" bIns="0" rtlCol="0" anchor="ctr"/>
          <a:lstStyle/>
          <a:p>
            <a:pPr algn="ctr" indent="0" marL="0">
              <a:buNone/>
            </a:pPr>
            <a:r>
              <a:rPr lang="en-US" sz="1500" b="1" dirty="0">
                <a:solidFill>
                  <a:srgbClr val="FFFFFF"/>
                </a:solidFill>
              </a:rPr>
              <a:t>document_checklist</a:t>
            </a:r>
            <a:endParaRPr lang="en-US" sz="1500" dirty="0"/>
          </a:p>
        </p:txBody>
      </p:sp>
      <p:sp>
        <p:nvSpPr>
          <p:cNvPr id="17" name="Text 15"/>
          <p:cNvSpPr/>
          <p:nvPr/>
        </p:nvSpPr>
        <p:spPr>
          <a:xfrm>
            <a:off x="3520440" y="4910328"/>
            <a:ext cx="3931920" cy="640080"/>
          </a:xfrm>
          <a:prstGeom prst="rect">
            <a:avLst/>
          </a:prstGeom>
          <a:noFill/>
          <a:ln/>
        </p:spPr>
        <p:txBody>
          <a:bodyPr wrap="square" lIns="0" tIns="0" rIns="0" bIns="0" rtlCol="0" anchor="ctr"/>
          <a:lstStyle/>
          <a:p>
            <a:pPr indent="0" marL="0">
              <a:buNone/>
            </a:pPr>
            <a:r>
              <a:rPr lang="en-US" sz="1450" dirty="0">
                <a:solidFill>
                  <a:srgbClr val="1F2A44"/>
                </a:solidFill>
              </a:rPr>
              <a:t>One merged list across schemes: gather each paper once</a:t>
            </a:r>
            <a:endParaRPr lang="en-US" sz="1450" dirty="0"/>
          </a:p>
        </p:txBody>
      </p:sp>
      <p:sp>
        <p:nvSpPr>
          <p:cNvPr id="18" name="card"/>
          <p:cNvSpPr/>
          <p:nvPr/>
        </p:nvSpPr>
        <p:spPr>
          <a:xfrm>
            <a:off x="7863840" y="1325880"/>
            <a:ext cx="3749040" cy="4251960"/>
          </a:xfrm>
          <a:prstGeom prst="roundRect">
            <a:avLst>
              <a:gd name="adj" fmla="val 2927"/>
            </a:avLst>
          </a:prstGeom>
          <a:solidFill>
            <a:srgbClr val="FBF7F0"/>
          </a:solidFill>
          <a:ln w="12700">
            <a:solidFill>
              <a:srgbClr val="FBF7F0"/>
            </a:solidFill>
            <a:prstDash val="solid"/>
          </a:ln>
        </p:spPr>
      </p:sp>
      <p:sp>
        <p:nvSpPr>
          <p:cNvPr id="19" name="icon-circle"/>
          <p:cNvSpPr/>
          <p:nvPr/>
        </p:nvSpPr>
        <p:spPr>
          <a:xfrm>
            <a:off x="8138160" y="1554480"/>
            <a:ext cx="731520" cy="731520"/>
          </a:xfrm>
          <a:prstGeom prst="ellipse">
            <a:avLst/>
          </a:prstGeom>
          <a:solidFill>
            <a:srgbClr val="1F2A44"/>
          </a:solidFill>
          <a:ln w="12700">
            <a:solidFill>
              <a:srgbClr val="1F2A44"/>
            </a:solidFill>
            <a:prstDash val="solid"/>
          </a:ln>
        </p:spPr>
      </p:sp>
      <p:pic>
        <p:nvPicPr>
          <p:cNvPr id="20" name="icon" descr="preencoded.png">    </p:cNvPr>
          <p:cNvPicPr>
            <a:picLocks noChangeAspect="1"/>
          </p:cNvPicPr>
          <p:nvPr/>
        </p:nvPicPr>
        <p:blipFill>
          <a:blip r:embed="rId1"/>
          <a:stretch>
            <a:fillRect/>
          </a:stretch>
        </p:blipFill>
        <p:spPr>
          <a:xfrm>
            <a:off x="8313725" y="1730045"/>
            <a:ext cx="380390" cy="380390"/>
          </a:xfrm>
          <a:prstGeom prst="rect">
            <a:avLst/>
          </a:prstGeom>
        </p:spPr>
      </p:pic>
      <p:sp>
        <p:nvSpPr>
          <p:cNvPr id="21" name="Text 18"/>
          <p:cNvSpPr/>
          <p:nvPr/>
        </p:nvSpPr>
        <p:spPr>
          <a:xfrm>
            <a:off x="8138160" y="2423160"/>
            <a:ext cx="3291840" cy="457200"/>
          </a:xfrm>
          <a:prstGeom prst="rect">
            <a:avLst/>
          </a:prstGeom>
          <a:noFill/>
          <a:ln/>
        </p:spPr>
        <p:txBody>
          <a:bodyPr wrap="square" lIns="0" tIns="0" rIns="0" bIns="0" rtlCol="0" anchor="ctr"/>
          <a:lstStyle/>
          <a:p>
            <a:pPr indent="0" marL="0">
              <a:buNone/>
            </a:pPr>
            <a:r>
              <a:rPr lang="en-US" sz="2000" b="1" dirty="0">
                <a:solidFill>
                  <a:srgbClr val="1F2A44"/>
                </a:solidFill>
                <a:latin typeface="Cambria" pitchFamily="34" charset="0"/>
                <a:ea typeface="Cambria" pitchFamily="34" charset="-122"/>
                <a:cs typeface="Cambria" pitchFamily="34" charset="-120"/>
              </a:rPr>
              <a:t>LLM on Groq (free)</a:t>
            </a:r>
            <a:endParaRPr lang="en-US" sz="2000" dirty="0"/>
          </a:p>
        </p:txBody>
      </p:sp>
      <p:sp>
        <p:nvSpPr>
          <p:cNvPr id="22" name="Text 19"/>
          <p:cNvSpPr/>
          <p:nvPr/>
        </p:nvSpPr>
        <p:spPr>
          <a:xfrm>
            <a:off x="8138160" y="2926080"/>
            <a:ext cx="3291840" cy="2468880"/>
          </a:xfrm>
          <a:prstGeom prst="rect">
            <a:avLst/>
          </a:prstGeom>
          <a:noFill/>
          <a:ln/>
        </p:spPr>
        <p:txBody>
          <a:bodyPr wrap="square" lIns="0" tIns="0" rIns="0" bIns="0" rtlCol="0" anchor="t"/>
          <a:lstStyle/>
          <a:p>
            <a:pPr indent="0" marL="0">
              <a:spcAft>
                <a:spcPts val="600"/>
              </a:spcAft>
              <a:buNone/>
            </a:pPr>
            <a:r>
              <a:rPr lang="en-US" sz="1450" b="1" dirty="0">
                <a:solidFill>
                  <a:srgbClr val="3B4C7A"/>
                </a:solidFill>
              </a:rPr>
              <a:t>gpt-oss-120b → gpt-oss-20b → Qwen3</a:t>
            </a:r>
            <a:endParaRPr lang="en-US" sz="1450" dirty="0"/>
          </a:p>
          <a:p>
            <a:pPr marL="342900" indent="-342900">
              <a:spcAft>
                <a:spcPts val="600"/>
              </a:spcAft>
              <a:buSzPct val="100000"/>
              <a:buChar char="•"/>
            </a:pPr>
            <a:r>
              <a:rPr lang="en-US" sz="1450" dirty="0">
                <a:solidFill>
                  <a:srgbClr val="1F2A44"/>
                </a:solidFill>
              </a:rPr>
              <a:t>Daily limit hit? Next model at once</a:t>
            </a:r>
            <a:endParaRPr lang="en-US" sz="1450" dirty="0"/>
          </a:p>
          <a:p>
            <a:pPr marL="342900" indent="-342900">
              <a:spcAft>
                <a:spcPts val="600"/>
              </a:spcAft>
              <a:buSzPct val="100000"/>
              <a:buChar char="•"/>
            </a:pPr>
            <a:r>
              <a:rPr lang="en-US" sz="1450" dirty="0">
                <a:solidFill>
                  <a:srgbClr val="1F2A44"/>
                </a:solidFill>
              </a:rPr>
              <a:t>Malformed tool call? One retry</a:t>
            </a:r>
            <a:endParaRPr lang="en-US" sz="1450" dirty="0"/>
          </a:p>
          <a:p>
            <a:pPr marL="342900" indent="-342900">
              <a:spcAft>
                <a:spcPts val="600"/>
              </a:spcAft>
              <a:buSzPct val="100000"/>
              <a:buChar char="•"/>
            </a:pPr>
            <a:r>
              <a:rPr lang="en-US" sz="1450" dirty="0">
                <a:solidFill>
                  <a:srgbClr val="1F2A44"/>
                </a:solidFill>
              </a:rPr>
              <a:t>Embeddings local via Ollama</a:t>
            </a:r>
            <a:endParaRPr lang="en-US" sz="1450" dirty="0"/>
          </a:p>
          <a:p>
            <a:pPr marL="342900" indent="-342900">
              <a:spcAft>
                <a:spcPts val="600"/>
              </a:spcAft>
              <a:buSzPct val="100000"/>
              <a:buChar char="•"/>
            </a:pPr>
            <a:r>
              <a:rPr lang="en-US" sz="1450" dirty="0">
                <a:solidFill>
                  <a:srgbClr val="1F2A44"/>
                </a:solidFill>
              </a:rPr>
              <a:t>Typical answer: 2–15 s</a:t>
            </a:r>
            <a:endParaRPr lang="en-US" sz="1450" dirty="0"/>
          </a:p>
        </p:txBody>
      </p:sp>
      <p:sp>
        <p:nvSpPr>
          <p:cNvPr id="23" name="Text 20"/>
          <p:cNvSpPr/>
          <p:nvPr/>
        </p:nvSpPr>
        <p:spPr>
          <a:xfrm>
            <a:off x="548640" y="5806440"/>
            <a:ext cx="11064240" cy="411480"/>
          </a:xfrm>
          <a:prstGeom prst="rect">
            <a:avLst/>
          </a:prstGeom>
          <a:noFill/>
          <a:ln/>
        </p:spPr>
        <p:txBody>
          <a:bodyPr wrap="square" lIns="0" tIns="0" rIns="0" bIns="0" rtlCol="0" anchor="ctr"/>
          <a:lstStyle/>
          <a:p>
            <a:pPr indent="0" marL="0">
              <a:buNone/>
            </a:pPr>
            <a:r>
              <a:rPr lang="en-US" sz="1300" i="1" dirty="0">
                <a:solidFill>
                  <a:srgbClr val="5E6678"/>
                </a:solidFill>
              </a:rPr>
              <a:t>Instructions: check eligibility first · cite every fact · quote the computed total · never invent offices, websites or documents</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678"/>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The guardrail: six checks in code, not left to the model</a:t>
            </a:r>
            <a:endParaRPr lang="en-US" sz="3000" dirty="0"/>
          </a:p>
        </p:txBody>
      </p:sp>
      <p:sp>
        <p:nvSpPr>
          <p:cNvPr id="3" name="tick"/>
          <p:cNvSpPr/>
          <p:nvPr/>
        </p:nvSpPr>
        <p:spPr>
          <a:xfrm>
            <a:off x="548640" y="1399032"/>
            <a:ext cx="457200" cy="457200"/>
          </a:xfrm>
          <a:prstGeom prst="ellipse">
            <a:avLst/>
          </a:prstGeom>
          <a:solidFill>
            <a:srgbClr val="1E8C5A"/>
          </a:solidFill>
          <a:ln w="12700">
            <a:solidFill>
              <a:srgbClr val="1E8C5A"/>
            </a:solidFill>
            <a:prstDash val="solid"/>
          </a:ln>
        </p:spPr>
      </p:sp>
      <p:sp>
        <p:nvSpPr>
          <p:cNvPr id="4" name="Text 2"/>
          <p:cNvSpPr/>
          <p:nvPr/>
        </p:nvSpPr>
        <p:spPr>
          <a:xfrm>
            <a:off x="548640" y="139903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5" name="Text 3"/>
          <p:cNvSpPr/>
          <p:nvPr/>
        </p:nvSpPr>
        <p:spPr>
          <a:xfrm>
            <a:off x="1188720" y="1325880"/>
            <a:ext cx="5120640" cy="603504"/>
          </a:xfrm>
          <a:prstGeom prst="rect">
            <a:avLst/>
          </a:prstGeom>
          <a:noFill/>
          <a:ln/>
        </p:spPr>
        <p:txBody>
          <a:bodyPr wrap="square" lIns="0" tIns="0" rIns="0" bIns="0" rtlCol="0" anchor="ctr"/>
          <a:lstStyle/>
          <a:p>
            <a:pPr indent="0" marL="0">
              <a:buNone/>
            </a:pPr>
            <a:r>
              <a:rPr lang="en-US" sz="1600" dirty="0">
                <a:solidFill>
                  <a:srgbClr val="1F2A44"/>
                </a:solidFill>
              </a:rPr>
              <a:t>Every citation was returned by a tool in this run</a:t>
            </a:r>
            <a:endParaRPr lang="en-US" sz="1600" dirty="0"/>
          </a:p>
        </p:txBody>
      </p:sp>
      <p:sp>
        <p:nvSpPr>
          <p:cNvPr id="6" name="tick"/>
          <p:cNvSpPr/>
          <p:nvPr/>
        </p:nvSpPr>
        <p:spPr>
          <a:xfrm>
            <a:off x="548640" y="2130552"/>
            <a:ext cx="457200" cy="457200"/>
          </a:xfrm>
          <a:prstGeom prst="ellipse">
            <a:avLst/>
          </a:prstGeom>
          <a:solidFill>
            <a:srgbClr val="1E8C5A"/>
          </a:solidFill>
          <a:ln w="12700">
            <a:solidFill>
              <a:srgbClr val="1E8C5A"/>
            </a:solidFill>
            <a:prstDash val="solid"/>
          </a:ln>
        </p:spPr>
      </p:sp>
      <p:sp>
        <p:nvSpPr>
          <p:cNvPr id="7" name="Text 5"/>
          <p:cNvSpPr/>
          <p:nvPr/>
        </p:nvSpPr>
        <p:spPr>
          <a:xfrm>
            <a:off x="548640" y="213055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8" name="Text 6"/>
          <p:cNvSpPr/>
          <p:nvPr/>
        </p:nvSpPr>
        <p:spPr>
          <a:xfrm>
            <a:off x="1188720" y="2057400"/>
            <a:ext cx="5120640" cy="603504"/>
          </a:xfrm>
          <a:prstGeom prst="rect">
            <a:avLst/>
          </a:prstGeom>
          <a:noFill/>
          <a:ln/>
        </p:spPr>
        <p:txBody>
          <a:bodyPr wrap="square" lIns="0" tIns="0" rIns="0" bIns="0" rtlCol="0" anchor="ctr"/>
          <a:lstStyle/>
          <a:p>
            <a:pPr indent="0" marL="0">
              <a:buNone/>
            </a:pPr>
            <a:r>
              <a:rPr lang="en-US" sz="1600" dirty="0">
                <a:solidFill>
                  <a:srgbClr val="1F2A44"/>
                </a:solidFill>
              </a:rPr>
              <a:t>No sentence contradicts a rule-engine verdict</a:t>
            </a:r>
            <a:endParaRPr lang="en-US" sz="1600" dirty="0"/>
          </a:p>
        </p:txBody>
      </p:sp>
      <p:sp>
        <p:nvSpPr>
          <p:cNvPr id="9" name="tick"/>
          <p:cNvSpPr/>
          <p:nvPr/>
        </p:nvSpPr>
        <p:spPr>
          <a:xfrm>
            <a:off x="548640" y="2862072"/>
            <a:ext cx="457200" cy="457200"/>
          </a:xfrm>
          <a:prstGeom prst="ellipse">
            <a:avLst/>
          </a:prstGeom>
          <a:solidFill>
            <a:srgbClr val="1E8C5A"/>
          </a:solidFill>
          <a:ln w="12700">
            <a:solidFill>
              <a:srgbClr val="1E8C5A"/>
            </a:solidFill>
            <a:prstDash val="solid"/>
          </a:ln>
        </p:spPr>
      </p:sp>
      <p:sp>
        <p:nvSpPr>
          <p:cNvPr id="10" name="Text 8"/>
          <p:cNvSpPr/>
          <p:nvPr/>
        </p:nvSpPr>
        <p:spPr>
          <a:xfrm>
            <a:off x="548640" y="286207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1" name="Text 9"/>
          <p:cNvSpPr/>
          <p:nvPr/>
        </p:nvSpPr>
        <p:spPr>
          <a:xfrm>
            <a:off x="1188720" y="2788920"/>
            <a:ext cx="5120640" cy="603504"/>
          </a:xfrm>
          <a:prstGeom prst="rect">
            <a:avLst/>
          </a:prstGeom>
          <a:noFill/>
          <a:ln/>
        </p:spPr>
        <p:txBody>
          <a:bodyPr wrap="square" lIns="0" tIns="0" rIns="0" bIns="0" rtlCol="0" anchor="ctr"/>
          <a:lstStyle/>
          <a:p>
            <a:pPr indent="0" marL="0">
              <a:buNone/>
            </a:pPr>
            <a:r>
              <a:rPr lang="en-US" sz="1600" dirty="0">
                <a:solidFill>
                  <a:srgbClr val="1F2A44"/>
                </a:solidFill>
              </a:rPr>
              <a:t>No scheme outside the official library</a:t>
            </a:r>
            <a:endParaRPr lang="en-US" sz="1600" dirty="0"/>
          </a:p>
        </p:txBody>
      </p:sp>
      <p:sp>
        <p:nvSpPr>
          <p:cNvPr id="12" name="tick"/>
          <p:cNvSpPr/>
          <p:nvPr/>
        </p:nvSpPr>
        <p:spPr>
          <a:xfrm>
            <a:off x="548640" y="3593592"/>
            <a:ext cx="457200" cy="457200"/>
          </a:xfrm>
          <a:prstGeom prst="ellipse">
            <a:avLst/>
          </a:prstGeom>
          <a:solidFill>
            <a:srgbClr val="1E8C5A"/>
          </a:solidFill>
          <a:ln w="12700">
            <a:solidFill>
              <a:srgbClr val="1E8C5A"/>
            </a:solidFill>
            <a:prstDash val="solid"/>
          </a:ln>
        </p:spPr>
      </p:sp>
      <p:sp>
        <p:nvSpPr>
          <p:cNvPr id="13" name="Text 11"/>
          <p:cNvSpPr/>
          <p:nvPr/>
        </p:nvSpPr>
        <p:spPr>
          <a:xfrm>
            <a:off x="548640" y="359359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4" name="Text 12"/>
          <p:cNvSpPr/>
          <p:nvPr/>
        </p:nvSpPr>
        <p:spPr>
          <a:xfrm>
            <a:off x="1188720" y="3520440"/>
            <a:ext cx="5120640" cy="603504"/>
          </a:xfrm>
          <a:prstGeom prst="rect">
            <a:avLst/>
          </a:prstGeom>
          <a:noFill/>
          <a:ln/>
        </p:spPr>
        <p:txBody>
          <a:bodyPr wrap="square" lIns="0" tIns="0" rIns="0" bIns="0" rtlCol="0" anchor="ctr"/>
          <a:lstStyle/>
          <a:p>
            <a:pPr indent="0" marL="0">
              <a:buNone/>
            </a:pPr>
            <a:r>
              <a:rPr lang="en-US" sz="1600" dirty="0">
                <a:solidFill>
                  <a:srgbClr val="1F2A44"/>
                </a:solidFill>
              </a:rPr>
              <a:t>No web address absent from the official text</a:t>
            </a:r>
            <a:endParaRPr lang="en-US" sz="1600" dirty="0"/>
          </a:p>
        </p:txBody>
      </p:sp>
      <p:sp>
        <p:nvSpPr>
          <p:cNvPr id="15" name="tick"/>
          <p:cNvSpPr/>
          <p:nvPr/>
        </p:nvSpPr>
        <p:spPr>
          <a:xfrm>
            <a:off x="548640" y="4325112"/>
            <a:ext cx="457200" cy="457200"/>
          </a:xfrm>
          <a:prstGeom prst="ellipse">
            <a:avLst/>
          </a:prstGeom>
          <a:solidFill>
            <a:srgbClr val="1E8C5A"/>
          </a:solidFill>
          <a:ln w="12700">
            <a:solidFill>
              <a:srgbClr val="1E8C5A"/>
            </a:solidFill>
            <a:prstDash val="solid"/>
          </a:ln>
        </p:spPr>
      </p:sp>
      <p:sp>
        <p:nvSpPr>
          <p:cNvPr id="16" name="Text 14"/>
          <p:cNvSpPr/>
          <p:nvPr/>
        </p:nvSpPr>
        <p:spPr>
          <a:xfrm>
            <a:off x="548640" y="432511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7" name="Text 15"/>
          <p:cNvSpPr/>
          <p:nvPr/>
        </p:nvSpPr>
        <p:spPr>
          <a:xfrm>
            <a:off x="1188720" y="4251960"/>
            <a:ext cx="5120640" cy="603504"/>
          </a:xfrm>
          <a:prstGeom prst="rect">
            <a:avLst/>
          </a:prstGeom>
          <a:noFill/>
          <a:ln/>
        </p:spPr>
        <p:txBody>
          <a:bodyPr wrap="square" lIns="0" tIns="0" rIns="0" bIns="0" rtlCol="0" anchor="ctr"/>
          <a:lstStyle/>
          <a:p>
            <a:pPr indent="0" marL="0">
              <a:buNone/>
            </a:pPr>
            <a:r>
              <a:rPr lang="en-US" sz="1600" dirty="0">
                <a:solidFill>
                  <a:srgbClr val="1F2A44"/>
                </a:solidFill>
              </a:rPr>
              <a:t>Document or apply questions must use that tool</a:t>
            </a:r>
            <a:endParaRPr lang="en-US" sz="1600" dirty="0"/>
          </a:p>
        </p:txBody>
      </p:sp>
      <p:sp>
        <p:nvSpPr>
          <p:cNvPr id="18" name="tick"/>
          <p:cNvSpPr/>
          <p:nvPr/>
        </p:nvSpPr>
        <p:spPr>
          <a:xfrm>
            <a:off x="548640" y="5056632"/>
            <a:ext cx="457200" cy="457200"/>
          </a:xfrm>
          <a:prstGeom prst="ellipse">
            <a:avLst/>
          </a:prstGeom>
          <a:solidFill>
            <a:srgbClr val="1E8C5A"/>
          </a:solidFill>
          <a:ln w="12700">
            <a:solidFill>
              <a:srgbClr val="1E8C5A"/>
            </a:solidFill>
            <a:prstDash val="solid"/>
          </a:ln>
        </p:spPr>
      </p:sp>
      <p:sp>
        <p:nvSpPr>
          <p:cNvPr id="19" name="Text 17"/>
          <p:cNvSpPr/>
          <p:nvPr/>
        </p:nvSpPr>
        <p:spPr>
          <a:xfrm>
            <a:off x="548640" y="505663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20" name="Text 18"/>
          <p:cNvSpPr/>
          <p:nvPr/>
        </p:nvSpPr>
        <p:spPr>
          <a:xfrm>
            <a:off x="1188720" y="4983480"/>
            <a:ext cx="5120640" cy="603504"/>
          </a:xfrm>
          <a:prstGeom prst="rect">
            <a:avLst/>
          </a:prstGeom>
          <a:noFill/>
          <a:ln/>
        </p:spPr>
        <p:txBody>
          <a:bodyPr wrap="square" lIns="0" tIns="0" rIns="0" bIns="0" rtlCol="0" anchor="ctr"/>
          <a:lstStyle/>
          <a:p>
            <a:pPr indent="0" marL="0">
              <a:buNone/>
            </a:pPr>
            <a:r>
              <a:rPr lang="en-US" sz="1600" dirty="0">
                <a:solidFill>
                  <a:srgbClr val="1F2A44"/>
                </a:solidFill>
              </a:rPr>
              <a:t>Any yearly total equals benefit_estimate</a:t>
            </a:r>
            <a:endParaRPr lang="en-US" sz="1600" dirty="0"/>
          </a:p>
        </p:txBody>
      </p:sp>
      <p:sp>
        <p:nvSpPr>
          <p:cNvPr id="21" name="catch-card"/>
          <p:cNvSpPr/>
          <p:nvPr/>
        </p:nvSpPr>
        <p:spPr>
          <a:xfrm>
            <a:off x="6675120" y="1325880"/>
            <a:ext cx="4937760" cy="4343400"/>
          </a:xfrm>
          <a:prstGeom prst="roundRect">
            <a:avLst>
              <a:gd name="adj" fmla="val 2526"/>
            </a:avLst>
          </a:prstGeom>
          <a:solidFill>
            <a:srgbClr val="FFF3EA"/>
          </a:solidFill>
          <a:ln w="12700">
            <a:solidFill>
              <a:srgbClr val="FFF3EA"/>
            </a:solidFill>
            <a:prstDash val="solid"/>
          </a:ln>
        </p:spPr>
      </p:sp>
      <p:sp>
        <p:nvSpPr>
          <p:cNvPr id="22" name="Text 20"/>
          <p:cNvSpPr/>
          <p:nvPr/>
        </p:nvSpPr>
        <p:spPr>
          <a:xfrm>
            <a:off x="6949440" y="1508760"/>
            <a:ext cx="4480560" cy="411480"/>
          </a:xfrm>
          <a:prstGeom prst="rect">
            <a:avLst/>
          </a:prstGeom>
          <a:noFill/>
          <a:ln/>
        </p:spPr>
        <p:txBody>
          <a:bodyPr wrap="square" lIns="0" tIns="0" rIns="0" bIns="0" rtlCol="0" anchor="ctr"/>
          <a:lstStyle/>
          <a:p>
            <a:pPr indent="0" marL="0">
              <a:buNone/>
            </a:pPr>
            <a:r>
              <a:rPr lang="en-US" sz="1800" b="1" dirty="0">
                <a:solidFill>
                  <a:srgbClr val="B4473A"/>
                </a:solidFill>
                <a:latin typeface="Cambria" pitchFamily="34" charset="0"/>
                <a:ea typeface="Cambria" pitchFamily="34" charset="-122"/>
                <a:cs typeface="Cambria" pitchFamily="34" charset="-120"/>
              </a:rPr>
              <a:t>A real catch, from the audit log</a:t>
            </a:r>
            <a:endParaRPr lang="en-US" sz="1800" dirty="0"/>
          </a:p>
        </p:txBody>
      </p:sp>
      <p:sp>
        <p:nvSpPr>
          <p:cNvPr id="23" name="Text 21"/>
          <p:cNvSpPr/>
          <p:nvPr/>
        </p:nvSpPr>
        <p:spPr>
          <a:xfrm>
            <a:off x="6949440" y="2011680"/>
            <a:ext cx="4480560" cy="2651760"/>
          </a:xfrm>
          <a:prstGeom prst="rect">
            <a:avLst/>
          </a:prstGeom>
          <a:noFill/>
          <a:ln/>
        </p:spPr>
        <p:txBody>
          <a:bodyPr wrap="square" lIns="0" tIns="0" rIns="0" bIns="0" rtlCol="0" anchor="t"/>
          <a:lstStyle/>
          <a:p>
            <a:pPr indent="0" marL="0">
              <a:spcAft>
                <a:spcPts val="400"/>
              </a:spcAft>
              <a:buNone/>
            </a:pPr>
            <a:r>
              <a:rPr lang="en-US" sz="1450" dirty="0">
                <a:solidFill>
                  <a:srgbClr val="1F2A44"/>
                </a:solidFill>
              </a:rPr>
              <a:t>Draft 1: “apply at www.pradhanmantrijeevanjyotibima.gov.in”</a:t>
            </a:r>
            <a:endParaRPr lang="en-US" sz="1450" dirty="0"/>
          </a:p>
          <a:p>
            <a:pPr indent="0" marL="0">
              <a:spcAft>
                <a:spcPts val="400"/>
              </a:spcAft>
              <a:buNone/>
            </a:pPr>
            <a:r>
              <a:rPr lang="en-US" sz="1450" b="1" dirty="0">
                <a:solidFill>
                  <a:srgbClr val="B4473A"/>
                </a:solidFill>
              </a:rPr>
              <a:t>→ rejected: not in the official text</a:t>
            </a:r>
            <a:endParaRPr lang="en-US" sz="1450" dirty="0"/>
          </a:p>
          <a:p>
            <a:pPr indent="0" marL="0">
              <a:spcAft>
                <a:spcPts val="400"/>
              </a:spcAft>
              <a:buNone/>
            </a:pPr>
            <a:r>
              <a:rPr lang="en-US" sz="1450" dirty="0">
                <a:solidFill>
                  <a:srgbClr val="1F2A44"/>
                </a:solidFill>
              </a:rPr>
              <a:t>Draft 2: same invented address</a:t>
            </a:r>
            <a:endParaRPr lang="en-US" sz="1450" dirty="0"/>
          </a:p>
          <a:p>
            <a:pPr indent="0" marL="0">
              <a:spcAft>
                <a:spcPts val="400"/>
              </a:spcAft>
              <a:buNone/>
            </a:pPr>
            <a:r>
              <a:rPr lang="en-US" sz="1450" b="1" dirty="0">
                <a:solidFill>
                  <a:srgbClr val="B4473A"/>
                </a:solidFill>
              </a:rPr>
              <a:t>→ rejected again</a:t>
            </a:r>
            <a:endParaRPr lang="en-US" sz="1450" dirty="0"/>
          </a:p>
          <a:p>
            <a:pPr indent="0" marL="0">
              <a:spcAft>
                <a:spcPts val="400"/>
              </a:spcAft>
              <a:buNone/>
            </a:pPr>
            <a:r>
              <a:rPr lang="en-US" sz="1450" dirty="0">
                <a:solidFill>
                  <a:srgbClr val="1F2A44"/>
                </a:solidFill>
              </a:rPr>
              <a:t>Draft 3: real citations, no invented links</a:t>
            </a:r>
            <a:endParaRPr lang="en-US" sz="1450" dirty="0"/>
          </a:p>
          <a:p>
            <a:pPr indent="0" marL="0">
              <a:spcAft>
                <a:spcPts val="400"/>
              </a:spcAft>
              <a:buNone/>
            </a:pPr>
            <a:r>
              <a:rPr lang="en-US" sz="1450" b="1" dirty="0">
                <a:solidFill>
                  <a:srgbClr val="1E8C5A"/>
                </a:solidFill>
              </a:rPr>
              <a:t>→ accepted, 6 official sources</a:t>
            </a:r>
            <a:endParaRPr lang="en-US" sz="1450" dirty="0"/>
          </a:p>
        </p:txBody>
      </p:sp>
      <p:sp>
        <p:nvSpPr>
          <p:cNvPr id="24" name="Text 22"/>
          <p:cNvSpPr/>
          <p:nvPr/>
        </p:nvSpPr>
        <p:spPr>
          <a:xfrm>
            <a:off x="6949440" y="4754880"/>
            <a:ext cx="4480560" cy="777240"/>
          </a:xfrm>
          <a:prstGeom prst="rect">
            <a:avLst/>
          </a:prstGeom>
          <a:noFill/>
          <a:ln/>
        </p:spPr>
        <p:txBody>
          <a:bodyPr wrap="square" lIns="0" tIns="0" rIns="0" bIns="0" rtlCol="0" anchor="t"/>
          <a:lstStyle/>
          <a:p>
            <a:pPr indent="0" marL="0">
              <a:buNone/>
            </a:pPr>
            <a:r>
              <a:rPr lang="en-US" sz="1300" i="1" dirty="0">
                <a:solidFill>
                  <a:srgbClr val="5E6678"/>
                </a:solidFill>
              </a:rPr>
              <a:t>Still failing after 2 retries? Keep the draft, strip unverified tags, label it “not fully verified”.</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67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The app: a profile once, every scheme checked instantly</a:t>
            </a:r>
            <a:endParaRPr lang="en-US" sz="3000" dirty="0"/>
          </a:p>
        </p:txBody>
      </p:sp>
      <p:pic>
        <p:nvPicPr>
          <p:cNvPr id="3" name="home-shot" descr="/Users/mahaveer/Desktop/AABA/schemesathi/docs/screens/home.png">    </p:cNvPr>
          <p:cNvPicPr>
            <a:picLocks noChangeAspect="1"/>
          </p:cNvPicPr>
          <p:nvPr/>
        </p:nvPicPr>
        <p:blipFill>
          <a:blip r:embed="rId1"/>
          <a:stretch>
            <a:fillRect/>
          </a:stretch>
        </p:blipFill>
        <p:spPr>
          <a:xfrm>
            <a:off x="548640" y="1234440"/>
            <a:ext cx="6766560" cy="4700016"/>
          </a:xfrm>
          <a:prstGeom prst="rect">
            <a:avLst/>
          </a:prstGeom>
        </p:spPr>
      </p:pic>
      <p:sp>
        <p:nvSpPr>
          <p:cNvPr id="4" name="Text 1"/>
          <p:cNvSpPr/>
          <p:nvPr/>
        </p:nvSpPr>
        <p:spPr>
          <a:xfrm>
            <a:off x="7680960" y="1325880"/>
            <a:ext cx="3931920" cy="457200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1F2A44"/>
                </a:solidFill>
              </a:rPr>
              <a:t>12 sample people, one click each</a:t>
            </a:r>
            <a:endParaRPr lang="en-US" sz="1500" dirty="0"/>
          </a:p>
          <a:p>
            <a:pPr marL="342900" indent="-342900">
              <a:spcAft>
                <a:spcPts val="1000"/>
              </a:spcAft>
              <a:buSzPct val="100000"/>
              <a:buChar char="•"/>
            </a:pPr>
            <a:r>
              <a:rPr lang="en-US" sz="1500" dirty="0">
                <a:solidFill>
                  <a:srgbClr val="1F2A44"/>
                </a:solidFill>
              </a:rPr>
              <a:t>Green, amber or red cards with every reason ticked or crossed</a:t>
            </a:r>
            <a:endParaRPr lang="en-US" sz="1500" dirty="0"/>
          </a:p>
          <a:p>
            <a:pPr marL="342900" indent="-342900">
              <a:spcAft>
                <a:spcPts val="1000"/>
              </a:spcAft>
              <a:buSzPct val="100000"/>
              <a:buChar char="•"/>
            </a:pPr>
            <a:r>
              <a:rPr lang="en-US" sz="1500" dirty="0">
                <a:solidFill>
                  <a:srgbClr val="1F2A44"/>
                </a:solidFill>
              </a:rPr>
              <a:t>Cash a year, only where the official text gives an amount</a:t>
            </a:r>
            <a:endParaRPr lang="en-US" sz="1500" dirty="0"/>
          </a:p>
          <a:p>
            <a:pPr marL="342900" indent="-342900">
              <a:spcAft>
                <a:spcPts val="1000"/>
              </a:spcAft>
              <a:buSzPct val="100000"/>
              <a:buChar char="•"/>
            </a:pPr>
            <a:r>
              <a:rPr lang="en-US" sz="1500" dirty="0">
                <a:solidFill>
                  <a:srgbClr val="1F2A44"/>
                </a:solidFill>
              </a:rPr>
              <a:t>“Not eligible (and why)” quotes the rule that failed</a:t>
            </a:r>
            <a:endParaRPr lang="en-US" sz="1500" dirty="0"/>
          </a:p>
          <a:p>
            <a:pPr marL="342900" indent="-342900">
              <a:spcAft>
                <a:spcPts val="1000"/>
              </a:spcAft>
              <a:buSzPct val="100000"/>
              <a:buChar char="•"/>
            </a:pPr>
            <a:r>
              <a:rPr lang="en-US" sz="1500" dirty="0">
                <a:solidFill>
                  <a:srgbClr val="1F2A44"/>
                </a:solidFill>
              </a:rPr>
              <a:t>“Only if” view for pregnancy, widowhood, disability and similar situations</a:t>
            </a:r>
            <a:endParaRPr lang="en-US" sz="1500" dirty="0"/>
          </a:p>
          <a:p>
            <a:pPr marL="342900" indent="-342900">
              <a:spcAft>
                <a:spcPts val="1000"/>
              </a:spcAft>
              <a:buSzPct val="100000"/>
              <a:buChar char="•"/>
            </a:pPr>
            <a:r>
              <a:rPr lang="en-US" sz="1500" b="1" dirty="0">
                <a:solidFill>
                  <a:srgbClr val="1E8C5A"/>
                </a:solidFill>
              </a:rPr>
              <a:t>No AI on this path: instant and free</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67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Ask in English or Hindi; take one document list to the office</a:t>
            </a:r>
            <a:endParaRPr lang="en-US" sz="3000" dirty="0"/>
          </a:p>
        </p:txBody>
      </p:sp>
      <p:pic>
        <p:nvPicPr>
          <p:cNvPr id="3" name="chat-shot" descr="/Users/mahaveer/Desktop/AABA/schemesathi/docs/screens/chat.png">    </p:cNvPr>
          <p:cNvPicPr>
            <a:picLocks noChangeAspect="1"/>
          </p:cNvPicPr>
          <p:nvPr/>
        </p:nvPicPr>
        <p:blipFill>
          <a:blip r:embed="rId1"/>
          <a:stretch>
            <a:fillRect/>
          </a:stretch>
        </p:blipFill>
        <p:spPr>
          <a:xfrm>
            <a:off x="548640" y="1234440"/>
            <a:ext cx="5486400" cy="3813048"/>
          </a:xfrm>
          <a:prstGeom prst="rect">
            <a:avLst/>
          </a:prstGeom>
        </p:spPr>
      </p:pic>
      <p:pic>
        <p:nvPicPr>
          <p:cNvPr id="4" name="docs-shot" descr="/Users/mahaveer/Desktop/AABA/schemesathi/docs/screens/documents.png">    </p:cNvPr>
          <p:cNvPicPr>
            <a:picLocks noChangeAspect="1"/>
          </p:cNvPicPr>
          <p:nvPr/>
        </p:nvPicPr>
        <p:blipFill>
          <a:blip r:embed="rId2"/>
          <a:stretch>
            <a:fillRect/>
          </a:stretch>
        </p:blipFill>
        <p:spPr>
          <a:xfrm>
            <a:off x="6172200" y="1234440"/>
            <a:ext cx="5486400" cy="3813048"/>
          </a:xfrm>
          <a:prstGeom prst="rect">
            <a:avLst/>
          </a:prstGeom>
        </p:spPr>
      </p:pic>
      <p:sp>
        <p:nvSpPr>
          <p:cNvPr id="5" name="Text 1"/>
          <p:cNvSpPr/>
          <p:nvPr/>
        </p:nvSpPr>
        <p:spPr>
          <a:xfrm>
            <a:off x="548640" y="5166360"/>
            <a:ext cx="5486400" cy="822960"/>
          </a:xfrm>
          <a:prstGeom prst="rect">
            <a:avLst/>
          </a:prstGeom>
          <a:noFill/>
          <a:ln/>
        </p:spPr>
        <p:txBody>
          <a:bodyPr wrap="square" lIns="0" tIns="0" rIns="0" bIns="0" rtlCol="0" anchor="t"/>
          <a:lstStyle/>
          <a:p>
            <a:pPr indent="0" marL="0">
              <a:buNone/>
            </a:pPr>
            <a:r>
              <a:rPr lang="en-US" sz="1300" dirty="0">
                <a:solidFill>
                  <a:srgbClr val="5E6678"/>
                </a:solidFill>
              </a:rPr>
              <a:t>The agent chose its tools, cited the official sections and passed the guardrail; the panel shows tools, model, time and retries</a:t>
            </a:r>
            <a:endParaRPr lang="en-US" sz="1300" dirty="0"/>
          </a:p>
        </p:txBody>
      </p:sp>
      <p:sp>
        <p:nvSpPr>
          <p:cNvPr id="6" name="Text 2"/>
          <p:cNvSpPr/>
          <p:nvPr/>
        </p:nvSpPr>
        <p:spPr>
          <a:xfrm>
            <a:off x="6172200" y="5166360"/>
            <a:ext cx="5486400" cy="822960"/>
          </a:xfrm>
          <a:prstGeom prst="rect">
            <a:avLst/>
          </a:prstGeom>
          <a:noFill/>
          <a:ln/>
        </p:spPr>
        <p:txBody>
          <a:bodyPr wrap="square" lIns="0" tIns="0" rIns="0" bIns="0" rtlCol="0" anchor="t"/>
          <a:lstStyle/>
          <a:p>
            <a:pPr indent="0" marL="0">
              <a:buNone/>
            </a:pPr>
            <a:r>
              <a:rPr lang="en-US" sz="1300" dirty="0">
                <a:solidFill>
                  <a:srgbClr val="5E6678"/>
                </a:solidFill>
              </a:rPr>
              <a:t>Fatima, street vendor: 9 schemes, with documents merged so the bank passbook and Aadhaar appear once each</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678"/>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Evaluation: the right passage, and every answer verified</a:t>
            </a:r>
            <a:endParaRPr lang="en-US" sz="3000" dirty="0"/>
          </a:p>
        </p:txBody>
      </p:sp>
      <p:graphicFrame>
        <p:nvGraphicFramePr>
          <p:cNvPr id="3" name="Chart 0" descr=""/>
          <p:cNvGraphicFramePr/>
          <p:nvPr/>
        </p:nvGraphicFramePr>
        <p:xfrm>
          <a:off x="548640" y="1280160"/>
          <a:ext cx="6400800" cy="4754880"/>
        </p:xfrm>
        <a:graphic xmlns:a="http://schemas.openxmlformats.org/drawingml/2006/main">
          <a:graphicData uri="http://schemas.openxmlformats.org/drawingml/2006/chart">
            <c:chart xmlns:c="http://schemas.openxmlformats.org/drawingml/2006/chart" r:id="rId1"/>
          </a:graphicData>
        </a:graphic>
      </p:graphicFrame>
      <p:sp>
        <p:nvSpPr>
          <p:cNvPr id="4" name="card"/>
          <p:cNvSpPr/>
          <p:nvPr/>
        </p:nvSpPr>
        <p:spPr>
          <a:xfrm>
            <a:off x="7406640" y="1325880"/>
            <a:ext cx="4206240" cy="1051560"/>
          </a:xfrm>
          <a:prstGeom prst="roundRect">
            <a:avLst>
              <a:gd name="adj" fmla="val 10435"/>
            </a:avLst>
          </a:prstGeom>
          <a:solidFill>
            <a:srgbClr val="FBF7F0"/>
          </a:solidFill>
          <a:ln w="12700">
            <a:solidFill>
              <a:srgbClr val="FBF7F0"/>
            </a:solidFill>
            <a:prstDash val="solid"/>
          </a:ln>
        </p:spPr>
      </p:sp>
      <p:sp>
        <p:nvSpPr>
          <p:cNvPr id="5" name="Text 2"/>
          <p:cNvSpPr/>
          <p:nvPr/>
        </p:nvSpPr>
        <p:spPr>
          <a:xfrm>
            <a:off x="7589520" y="1325880"/>
            <a:ext cx="1737360" cy="1051560"/>
          </a:xfrm>
          <a:prstGeom prst="rect">
            <a:avLst/>
          </a:prstGeom>
          <a:noFill/>
          <a:ln/>
        </p:spPr>
        <p:txBody>
          <a:bodyPr wrap="square" lIns="0" tIns="0" rIns="0" bIns="0" rtlCol="0" anchor="ctr"/>
          <a:lstStyle/>
          <a:p>
            <a:pPr indent="0" marL="0">
              <a:buNone/>
            </a:pPr>
            <a:r>
              <a:rPr lang="en-US" sz="3400" b="1" dirty="0">
                <a:solidFill>
                  <a:srgbClr val="E07A2E"/>
                </a:solidFill>
                <a:latin typeface="Cambria" pitchFamily="34" charset="0"/>
                <a:ea typeface="Cambria" pitchFamily="34" charset="-122"/>
                <a:cs typeface="Cambria" pitchFamily="34" charset="-120"/>
              </a:rPr>
              <a:t>83%</a:t>
            </a:r>
            <a:endParaRPr lang="en-US" sz="3400" dirty="0"/>
          </a:p>
        </p:txBody>
      </p:sp>
      <p:sp>
        <p:nvSpPr>
          <p:cNvPr id="6" name="Text 3"/>
          <p:cNvSpPr/>
          <p:nvPr/>
        </p:nvSpPr>
        <p:spPr>
          <a:xfrm>
            <a:off x="9372600" y="1325880"/>
            <a:ext cx="2148840" cy="1051560"/>
          </a:xfrm>
          <a:prstGeom prst="rect">
            <a:avLst/>
          </a:prstGeom>
          <a:noFill/>
          <a:ln/>
        </p:spPr>
        <p:txBody>
          <a:bodyPr wrap="square" lIns="0" tIns="0" rIns="0" bIns="0" rtlCol="0" anchor="ctr"/>
          <a:lstStyle/>
          <a:p>
            <a:pPr indent="0" marL="0">
              <a:buNone/>
            </a:pPr>
            <a:r>
              <a:rPr lang="en-US" sz="1400" dirty="0">
                <a:solidFill>
                  <a:srgbClr val="1F2A44"/>
                </a:solidFill>
              </a:rPr>
              <a:t>exact official section in the top 3</a:t>
            </a:r>
            <a:endParaRPr lang="en-US" sz="1400" dirty="0"/>
          </a:p>
        </p:txBody>
      </p:sp>
      <p:sp>
        <p:nvSpPr>
          <p:cNvPr id="7" name="card"/>
          <p:cNvSpPr/>
          <p:nvPr/>
        </p:nvSpPr>
        <p:spPr>
          <a:xfrm>
            <a:off x="7406640" y="2532888"/>
            <a:ext cx="4206240" cy="1051560"/>
          </a:xfrm>
          <a:prstGeom prst="roundRect">
            <a:avLst>
              <a:gd name="adj" fmla="val 10435"/>
            </a:avLst>
          </a:prstGeom>
          <a:solidFill>
            <a:srgbClr val="FBF7F0"/>
          </a:solidFill>
          <a:ln w="12700">
            <a:solidFill>
              <a:srgbClr val="FBF7F0"/>
            </a:solidFill>
            <a:prstDash val="solid"/>
          </a:ln>
        </p:spPr>
      </p:sp>
      <p:sp>
        <p:nvSpPr>
          <p:cNvPr id="8" name="Text 5"/>
          <p:cNvSpPr/>
          <p:nvPr/>
        </p:nvSpPr>
        <p:spPr>
          <a:xfrm>
            <a:off x="7589520" y="2532888"/>
            <a:ext cx="1737360" cy="1051560"/>
          </a:xfrm>
          <a:prstGeom prst="rect">
            <a:avLst/>
          </a:prstGeom>
          <a:noFill/>
          <a:ln/>
        </p:spPr>
        <p:txBody>
          <a:bodyPr wrap="square" lIns="0" tIns="0" rIns="0" bIns="0" rtlCol="0" anchor="ctr"/>
          <a:lstStyle/>
          <a:p>
            <a:pPr indent="0" marL="0">
              <a:buNone/>
            </a:pPr>
            <a:r>
              <a:rPr lang="en-US" sz="3400" b="1" dirty="0">
                <a:solidFill>
                  <a:srgbClr val="1E8C5A"/>
                </a:solidFill>
                <a:latin typeface="Cambria" pitchFamily="34" charset="0"/>
                <a:ea typeface="Cambria" pitchFamily="34" charset="-122"/>
                <a:cs typeface="Cambria" pitchFamily="34" charset="-120"/>
              </a:rPr>
              <a:t>100%</a:t>
            </a:r>
            <a:endParaRPr lang="en-US" sz="3400" dirty="0"/>
          </a:p>
        </p:txBody>
      </p:sp>
      <p:sp>
        <p:nvSpPr>
          <p:cNvPr id="9" name="Text 6"/>
          <p:cNvSpPr/>
          <p:nvPr/>
        </p:nvSpPr>
        <p:spPr>
          <a:xfrm>
            <a:off x="9372600" y="2532888"/>
            <a:ext cx="2148840" cy="1051560"/>
          </a:xfrm>
          <a:prstGeom prst="rect">
            <a:avLst/>
          </a:prstGeom>
          <a:noFill/>
          <a:ln/>
        </p:spPr>
        <p:txBody>
          <a:bodyPr wrap="square" lIns="0" tIns="0" rIns="0" bIns="0" rtlCol="0" anchor="ctr"/>
          <a:lstStyle/>
          <a:p>
            <a:pPr indent="0" marL="0">
              <a:buNone/>
            </a:pPr>
            <a:r>
              <a:rPr lang="en-US" sz="1400" dirty="0">
                <a:solidFill>
                  <a:srgbClr val="1F2A44"/>
                </a:solidFill>
              </a:rPr>
              <a:t>agent answers passed every check</a:t>
            </a:r>
            <a:endParaRPr lang="en-US" sz="1400" dirty="0"/>
          </a:p>
        </p:txBody>
      </p:sp>
      <p:sp>
        <p:nvSpPr>
          <p:cNvPr id="10" name="card"/>
          <p:cNvSpPr/>
          <p:nvPr/>
        </p:nvSpPr>
        <p:spPr>
          <a:xfrm>
            <a:off x="7406640" y="3739896"/>
            <a:ext cx="4206240" cy="1051560"/>
          </a:xfrm>
          <a:prstGeom prst="roundRect">
            <a:avLst>
              <a:gd name="adj" fmla="val 10435"/>
            </a:avLst>
          </a:prstGeom>
          <a:solidFill>
            <a:srgbClr val="FBF7F0"/>
          </a:solidFill>
          <a:ln w="12700">
            <a:solidFill>
              <a:srgbClr val="FBF7F0"/>
            </a:solidFill>
            <a:prstDash val="solid"/>
          </a:ln>
        </p:spPr>
      </p:sp>
      <p:sp>
        <p:nvSpPr>
          <p:cNvPr id="11" name="Text 8"/>
          <p:cNvSpPr/>
          <p:nvPr/>
        </p:nvSpPr>
        <p:spPr>
          <a:xfrm>
            <a:off x="7589520" y="3739896"/>
            <a:ext cx="1737360" cy="1051560"/>
          </a:xfrm>
          <a:prstGeom prst="rect">
            <a:avLst/>
          </a:prstGeom>
          <a:noFill/>
          <a:ln/>
        </p:spPr>
        <p:txBody>
          <a:bodyPr wrap="square" lIns="0" tIns="0" rIns="0" bIns="0" rtlCol="0" anchor="ctr"/>
          <a:lstStyle/>
          <a:p>
            <a:pPr indent="0" marL="0">
              <a:buNone/>
            </a:pPr>
            <a:r>
              <a:rPr lang="en-US" sz="3400" b="1" dirty="0">
                <a:solidFill>
                  <a:srgbClr val="1E8C5A"/>
                </a:solidFill>
                <a:latin typeface="Cambria" pitchFamily="34" charset="0"/>
                <a:ea typeface="Cambria" pitchFamily="34" charset="-122"/>
                <a:cs typeface="Cambria" pitchFamily="34" charset="-120"/>
              </a:rPr>
              <a:t>4/4</a:t>
            </a:r>
            <a:endParaRPr lang="en-US" sz="3400" dirty="0"/>
          </a:p>
        </p:txBody>
      </p:sp>
      <p:sp>
        <p:nvSpPr>
          <p:cNvPr id="12" name="Text 9"/>
          <p:cNvSpPr/>
          <p:nvPr/>
        </p:nvSpPr>
        <p:spPr>
          <a:xfrm>
            <a:off x="9372600" y="3739896"/>
            <a:ext cx="2148840" cy="1051560"/>
          </a:xfrm>
          <a:prstGeom prst="rect">
            <a:avLst/>
          </a:prstGeom>
          <a:noFill/>
          <a:ln/>
        </p:spPr>
        <p:txBody>
          <a:bodyPr wrap="square" lIns="0" tIns="0" rIns="0" bIns="0" rtlCol="0" anchor="ctr"/>
          <a:lstStyle/>
          <a:p>
            <a:pPr indent="0" marL="0">
              <a:buNone/>
            </a:pPr>
            <a:r>
              <a:rPr lang="en-US" sz="1400" dirty="0">
                <a:solidFill>
                  <a:srgbClr val="1F2A44"/>
                </a:solidFill>
              </a:rPr>
              <a:t>runs mentioned every fitting scheme, no wrong ones</a:t>
            </a:r>
            <a:endParaRPr lang="en-US" sz="1400" dirty="0"/>
          </a:p>
        </p:txBody>
      </p:sp>
      <p:sp>
        <p:nvSpPr>
          <p:cNvPr id="13" name="card"/>
          <p:cNvSpPr/>
          <p:nvPr/>
        </p:nvSpPr>
        <p:spPr>
          <a:xfrm>
            <a:off x="7406640" y="4946904"/>
            <a:ext cx="4206240" cy="1051560"/>
          </a:xfrm>
          <a:prstGeom prst="roundRect">
            <a:avLst>
              <a:gd name="adj" fmla="val 10435"/>
            </a:avLst>
          </a:prstGeom>
          <a:solidFill>
            <a:srgbClr val="FBF7F0"/>
          </a:solidFill>
          <a:ln w="12700">
            <a:solidFill>
              <a:srgbClr val="FBF7F0"/>
            </a:solidFill>
            <a:prstDash val="solid"/>
          </a:ln>
        </p:spPr>
      </p:sp>
      <p:sp>
        <p:nvSpPr>
          <p:cNvPr id="14" name="Text 11"/>
          <p:cNvSpPr/>
          <p:nvPr/>
        </p:nvSpPr>
        <p:spPr>
          <a:xfrm>
            <a:off x="7589520" y="4946904"/>
            <a:ext cx="1737360" cy="1051560"/>
          </a:xfrm>
          <a:prstGeom prst="rect">
            <a:avLst/>
          </a:prstGeom>
          <a:noFill/>
          <a:ln/>
        </p:spPr>
        <p:txBody>
          <a:bodyPr wrap="square" lIns="0" tIns="0" rIns="0" bIns="0" rtlCol="0" anchor="ctr"/>
          <a:lstStyle/>
          <a:p>
            <a:pPr indent="0" marL="0">
              <a:buNone/>
            </a:pPr>
            <a:r>
              <a:rPr lang="en-US" sz="3400" b="1" dirty="0">
                <a:solidFill>
                  <a:srgbClr val="1E8C5A"/>
                </a:solidFill>
                <a:latin typeface="Cambria" pitchFamily="34" charset="0"/>
                <a:ea typeface="Cambria" pitchFamily="34" charset="-122"/>
                <a:cs typeface="Cambria" pitchFamily="34" charset="-120"/>
              </a:rPr>
              <a:t>15.3 s</a:t>
            </a:r>
            <a:endParaRPr lang="en-US" sz="3400" dirty="0"/>
          </a:p>
        </p:txBody>
      </p:sp>
      <p:sp>
        <p:nvSpPr>
          <p:cNvPr id="15" name="Text 12"/>
          <p:cNvSpPr/>
          <p:nvPr/>
        </p:nvSpPr>
        <p:spPr>
          <a:xfrm>
            <a:off x="9372600" y="4946904"/>
            <a:ext cx="2148840" cy="1051560"/>
          </a:xfrm>
          <a:prstGeom prst="rect">
            <a:avLst/>
          </a:prstGeom>
          <a:noFill/>
          <a:ln/>
        </p:spPr>
        <p:txBody>
          <a:bodyPr wrap="square" lIns="0" tIns="0" rIns="0" bIns="0" rtlCol="0" anchor="ctr"/>
          <a:lstStyle/>
          <a:p>
            <a:pPr indent="0" marL="0">
              <a:buNone/>
            </a:pPr>
            <a:r>
              <a:rPr lang="en-US" sz="1400" dirty="0">
                <a:solidFill>
                  <a:srgbClr val="1F2A44"/>
                </a:solidFill>
              </a:rPr>
              <a:t>average answer time</a:t>
            </a:r>
            <a:endParaRPr lang="en-US" sz="1400" dirty="0"/>
          </a:p>
        </p:txBody>
      </p:sp>
      <p:sp>
        <p:nvSpPr>
          <p:cNvPr id="16" name="Text 13"/>
          <p:cNvSpPr/>
          <p:nvPr/>
        </p:nvSpPr>
        <p:spPr>
          <a:xfrm>
            <a:off x="548640" y="5989320"/>
            <a:ext cx="11064240" cy="365760"/>
          </a:xfrm>
          <a:prstGeom prst="rect">
            <a:avLst/>
          </a:prstGeom>
          <a:noFill/>
          <a:ln/>
        </p:spPr>
        <p:txBody>
          <a:bodyPr wrap="square" lIns="0" tIns="0" rIns="0" bIns="0" rtlCol="0" anchor="ctr"/>
          <a:lstStyle/>
          <a:p>
            <a:pPr indent="0" marL="0">
              <a:buNone/>
            </a:pPr>
            <a:r>
              <a:rPr lang="en-US" sz="1200" i="1" dirty="0">
                <a:solidFill>
                  <a:srgbClr val="5E6678"/>
                </a:solidFill>
              </a:rPr>
              <a:t>The intent boost (“documents” → Documents Required) lifted Hit@3. Weights were tuned on the same 24 questions, so treat these as optimistic.</a:t>
            </a:r>
            <a:endParaRPr lang="en-US" sz="1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678"/>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What testing exposed, and what fixed it</a:t>
            </a:r>
            <a:endParaRPr lang="en-US" sz="3000" dirty="0"/>
          </a:p>
        </p:txBody>
      </p:sp>
      <p:sp>
        <p:nvSpPr>
          <p:cNvPr id="3" name="card"/>
          <p:cNvSpPr/>
          <p:nvPr/>
        </p:nvSpPr>
        <p:spPr>
          <a:xfrm>
            <a:off x="548640" y="1325880"/>
            <a:ext cx="3474720" cy="2148840"/>
          </a:xfrm>
          <a:prstGeom prst="roundRect">
            <a:avLst>
              <a:gd name="adj" fmla="val 5106"/>
            </a:avLst>
          </a:prstGeom>
          <a:solidFill>
            <a:srgbClr val="FBF7F0"/>
          </a:solidFill>
          <a:ln w="12700">
            <a:solidFill>
              <a:srgbClr val="FBF7F0"/>
            </a:solidFill>
            <a:prstDash val="solid"/>
          </a:ln>
        </p:spPr>
      </p:sp>
      <p:sp>
        <p:nvSpPr>
          <p:cNvPr id="4" name="Text 2"/>
          <p:cNvSpPr/>
          <p:nvPr/>
        </p:nvSpPr>
        <p:spPr>
          <a:xfrm>
            <a:off x="777240" y="1508760"/>
            <a:ext cx="3017520" cy="685800"/>
          </a:xfrm>
          <a:prstGeom prst="rect">
            <a:avLst/>
          </a:prstGeom>
          <a:noFill/>
          <a:ln/>
        </p:spPr>
        <p:txBody>
          <a:bodyPr wrap="square" lIns="0" tIns="0" rIns="0" bIns="0" rtlCol="0" anchor="t"/>
          <a:lstStyle/>
          <a:p>
            <a:pPr indent="0" marL="0">
              <a:buNone/>
            </a:pPr>
            <a:r>
              <a:rPr lang="en-US" sz="1650" b="1" dirty="0">
                <a:solidFill>
                  <a:srgbClr val="B4473A"/>
                </a:solidFill>
                <a:latin typeface="Cambria" pitchFamily="34" charset="0"/>
                <a:ea typeface="Cambria" pitchFamily="34" charset="-122"/>
                <a:cs typeface="Cambria" pitchFamily="34" charset="-120"/>
              </a:rPr>
              <a:t>Correct citations rejected</a:t>
            </a:r>
            <a:endParaRPr lang="en-US" sz="1650" dirty="0"/>
          </a:p>
        </p:txBody>
      </p:sp>
      <p:sp>
        <p:nvSpPr>
          <p:cNvPr id="5" name="Text 3"/>
          <p:cNvSpPr/>
          <p:nvPr/>
        </p:nvSpPr>
        <p:spPr>
          <a:xfrm>
            <a:off x="777240" y="2194560"/>
            <a:ext cx="3017520" cy="457200"/>
          </a:xfrm>
          <a:prstGeom prst="rect">
            <a:avLst/>
          </a:prstGeom>
          <a:noFill/>
          <a:ln/>
        </p:spPr>
        <p:txBody>
          <a:bodyPr wrap="square" lIns="0" tIns="0" rIns="0" bIns="0" rtlCol="0" anchor="t"/>
          <a:lstStyle/>
          <a:p>
            <a:pPr indent="0" marL="0">
              <a:buNone/>
            </a:pPr>
            <a:r>
              <a:rPr lang="en-US" sz="1350" i="1" dirty="0">
                <a:solidFill>
                  <a:srgbClr val="5E6678"/>
                </a:solidFill>
              </a:rPr>
              <a:t>Model used different brackets</a:t>
            </a:r>
            <a:endParaRPr lang="en-US" sz="1350" dirty="0"/>
          </a:p>
        </p:txBody>
      </p:sp>
      <p:sp>
        <p:nvSpPr>
          <p:cNvPr id="6" name="Text 4"/>
          <p:cNvSpPr/>
          <p:nvPr/>
        </p:nvSpPr>
        <p:spPr>
          <a:xfrm>
            <a:off x="777240" y="2697480"/>
            <a:ext cx="3017520" cy="640080"/>
          </a:xfrm>
          <a:prstGeom prst="rect">
            <a:avLst/>
          </a:prstGeom>
          <a:noFill/>
          <a:ln/>
        </p:spPr>
        <p:txBody>
          <a:bodyPr wrap="square" lIns="0" tIns="0" rIns="0" bIns="0" rtlCol="0" anchor="t"/>
          <a:lstStyle/>
          <a:p>
            <a:pPr indent="0" marL="0">
              <a:buNone/>
            </a:pPr>
            <a:r>
              <a:rPr lang="en-US" sz="1450" b="1" dirty="0">
                <a:solidFill>
                  <a:srgbClr val="1E8C5A"/>
                </a:solidFill>
              </a:rPr>
              <a:t>Fix: Normalise brackets and hyphens</a:t>
            </a:r>
            <a:endParaRPr lang="en-US" sz="1450" dirty="0"/>
          </a:p>
        </p:txBody>
      </p:sp>
      <p:sp>
        <p:nvSpPr>
          <p:cNvPr id="7" name="card"/>
          <p:cNvSpPr/>
          <p:nvPr/>
        </p:nvSpPr>
        <p:spPr>
          <a:xfrm>
            <a:off x="4297680" y="1325880"/>
            <a:ext cx="3474720" cy="2148840"/>
          </a:xfrm>
          <a:prstGeom prst="roundRect">
            <a:avLst>
              <a:gd name="adj" fmla="val 5106"/>
            </a:avLst>
          </a:prstGeom>
          <a:solidFill>
            <a:srgbClr val="FBF7F0"/>
          </a:solidFill>
          <a:ln w="12700">
            <a:solidFill>
              <a:srgbClr val="FBF7F0"/>
            </a:solidFill>
            <a:prstDash val="solid"/>
          </a:ln>
        </p:spPr>
      </p:sp>
      <p:sp>
        <p:nvSpPr>
          <p:cNvPr id="8" name="Text 6"/>
          <p:cNvSpPr/>
          <p:nvPr/>
        </p:nvSpPr>
        <p:spPr>
          <a:xfrm>
            <a:off x="4526280" y="1508760"/>
            <a:ext cx="3017520" cy="685800"/>
          </a:xfrm>
          <a:prstGeom prst="rect">
            <a:avLst/>
          </a:prstGeom>
          <a:noFill/>
          <a:ln/>
        </p:spPr>
        <p:txBody>
          <a:bodyPr wrap="square" lIns="0" tIns="0" rIns="0" bIns="0" rtlCol="0" anchor="t"/>
          <a:lstStyle/>
          <a:p>
            <a:pPr indent="0" marL="0">
              <a:buNone/>
            </a:pPr>
            <a:r>
              <a:rPr lang="en-US" sz="1650" b="1" dirty="0">
                <a:solidFill>
                  <a:srgbClr val="B4473A"/>
                </a:solidFill>
                <a:latin typeface="Cambria" pitchFamily="34" charset="0"/>
                <a:ea typeface="Cambria" pitchFamily="34" charset="-122"/>
                <a:cs typeface="Cambria" pitchFamily="34" charset="-120"/>
              </a:rPr>
              <a:t>12 schemes lost their documents</a:t>
            </a:r>
            <a:endParaRPr lang="en-US" sz="1650" dirty="0"/>
          </a:p>
        </p:txBody>
      </p:sp>
      <p:sp>
        <p:nvSpPr>
          <p:cNvPr id="9" name="Text 7"/>
          <p:cNvSpPr/>
          <p:nvPr/>
        </p:nvSpPr>
        <p:spPr>
          <a:xfrm>
            <a:off x="4526280" y="2194560"/>
            <a:ext cx="3017520" cy="457200"/>
          </a:xfrm>
          <a:prstGeom prst="rect">
            <a:avLst/>
          </a:prstGeom>
          <a:noFill/>
          <a:ln/>
        </p:spPr>
        <p:txBody>
          <a:bodyPr wrap="square" lIns="0" tIns="0" rIns="0" bIns="0" rtlCol="0" anchor="t"/>
          <a:lstStyle/>
          <a:p>
            <a:pPr indent="0" marL="0">
              <a:buNone/>
            </a:pPr>
            <a:r>
              <a:rPr lang="en-US" sz="1350" i="1" dirty="0">
                <a:solidFill>
                  <a:srgbClr val="5E6678"/>
                </a:solidFill>
              </a:rPr>
              <a:t>Rich-text format on myScheme</a:t>
            </a:r>
            <a:endParaRPr lang="en-US" sz="1350" dirty="0"/>
          </a:p>
        </p:txBody>
      </p:sp>
      <p:sp>
        <p:nvSpPr>
          <p:cNvPr id="10" name="Text 8"/>
          <p:cNvSpPr/>
          <p:nvPr/>
        </p:nvSpPr>
        <p:spPr>
          <a:xfrm>
            <a:off x="4526280" y="2697480"/>
            <a:ext cx="3017520" cy="640080"/>
          </a:xfrm>
          <a:prstGeom prst="rect">
            <a:avLst/>
          </a:prstGeom>
          <a:noFill/>
          <a:ln/>
        </p:spPr>
        <p:txBody>
          <a:bodyPr wrap="square" lIns="0" tIns="0" rIns="0" bIns="0" rtlCol="0" anchor="t"/>
          <a:lstStyle/>
          <a:p>
            <a:pPr indent="0" marL="0">
              <a:buNone/>
            </a:pPr>
            <a:r>
              <a:rPr lang="en-US" sz="1450" b="1" dirty="0">
                <a:solidFill>
                  <a:srgbClr val="1E8C5A"/>
                </a:solidFill>
              </a:rPr>
              <a:t>Fix: Converter + offline rebuild</a:t>
            </a:r>
            <a:endParaRPr lang="en-US" sz="1450" dirty="0"/>
          </a:p>
        </p:txBody>
      </p:sp>
      <p:sp>
        <p:nvSpPr>
          <p:cNvPr id="11" name="card"/>
          <p:cNvSpPr/>
          <p:nvPr/>
        </p:nvSpPr>
        <p:spPr>
          <a:xfrm>
            <a:off x="8046720" y="1325880"/>
            <a:ext cx="3474720" cy="2148840"/>
          </a:xfrm>
          <a:prstGeom prst="roundRect">
            <a:avLst>
              <a:gd name="adj" fmla="val 5106"/>
            </a:avLst>
          </a:prstGeom>
          <a:solidFill>
            <a:srgbClr val="FBF7F0"/>
          </a:solidFill>
          <a:ln w="12700">
            <a:solidFill>
              <a:srgbClr val="FBF7F0"/>
            </a:solidFill>
            <a:prstDash val="solid"/>
          </a:ln>
        </p:spPr>
      </p:sp>
      <p:sp>
        <p:nvSpPr>
          <p:cNvPr id="12" name="Text 10"/>
          <p:cNvSpPr/>
          <p:nvPr/>
        </p:nvSpPr>
        <p:spPr>
          <a:xfrm>
            <a:off x="8275320" y="1508760"/>
            <a:ext cx="3017520" cy="685800"/>
          </a:xfrm>
          <a:prstGeom prst="rect">
            <a:avLst/>
          </a:prstGeom>
          <a:noFill/>
          <a:ln/>
        </p:spPr>
        <p:txBody>
          <a:bodyPr wrap="square" lIns="0" tIns="0" rIns="0" bIns="0" rtlCol="0" anchor="t"/>
          <a:lstStyle/>
          <a:p>
            <a:pPr indent="0" marL="0">
              <a:buNone/>
            </a:pPr>
            <a:r>
              <a:rPr lang="en-US" sz="1650" b="1" dirty="0">
                <a:solidFill>
                  <a:srgbClr val="B4473A"/>
                </a:solidFill>
                <a:latin typeface="Cambria" pitchFamily="34" charset="0"/>
                <a:ea typeface="Cambria" pitchFamily="34" charset="-122"/>
                <a:cs typeface="Cambria" pitchFamily="34" charset="-120"/>
              </a:rPr>
              <a:t>Maternity schemes for a man</a:t>
            </a:r>
            <a:endParaRPr lang="en-US" sz="1650" dirty="0"/>
          </a:p>
        </p:txBody>
      </p:sp>
      <p:sp>
        <p:nvSpPr>
          <p:cNvPr id="13" name="Text 11"/>
          <p:cNvSpPr/>
          <p:nvPr/>
        </p:nvSpPr>
        <p:spPr>
          <a:xfrm>
            <a:off x="8275320" y="2194560"/>
            <a:ext cx="3017520" cy="457200"/>
          </a:xfrm>
          <a:prstGeom prst="rect">
            <a:avLst/>
          </a:prstGeom>
          <a:noFill/>
          <a:ln/>
        </p:spPr>
        <p:txBody>
          <a:bodyPr wrap="square" lIns="0" tIns="0" rIns="0" bIns="0" rtlCol="0" anchor="t"/>
          <a:lstStyle/>
          <a:p>
            <a:pPr indent="0" marL="0">
              <a:buNone/>
            </a:pPr>
            <a:r>
              <a:rPr lang="en-US" sz="1350" i="1" dirty="0">
                <a:solidFill>
                  <a:srgbClr val="5E6678"/>
                </a:solidFill>
              </a:rPr>
              <a:t>Unknown ≠ “likely”</a:t>
            </a:r>
            <a:endParaRPr lang="en-US" sz="1350" dirty="0"/>
          </a:p>
        </p:txBody>
      </p:sp>
      <p:sp>
        <p:nvSpPr>
          <p:cNvPr id="14" name="Text 12"/>
          <p:cNvSpPr/>
          <p:nvPr/>
        </p:nvSpPr>
        <p:spPr>
          <a:xfrm>
            <a:off x="8275320" y="2697480"/>
            <a:ext cx="3017520" cy="640080"/>
          </a:xfrm>
          <a:prstGeom prst="rect">
            <a:avLst/>
          </a:prstGeom>
          <a:noFill/>
          <a:ln/>
        </p:spPr>
        <p:txBody>
          <a:bodyPr wrap="square" lIns="0" tIns="0" rIns="0" bIns="0" rtlCol="0" anchor="t"/>
          <a:lstStyle/>
          <a:p>
            <a:pPr indent="0" marL="0">
              <a:buNone/>
            </a:pPr>
            <a:r>
              <a:rPr lang="en-US" sz="1450" b="1" dirty="0">
                <a:solidFill>
                  <a:srgbClr val="1E8C5A"/>
                </a:solidFill>
              </a:rPr>
              <a:t>Fix: “Only if” life situations</a:t>
            </a:r>
            <a:endParaRPr lang="en-US" sz="1450" dirty="0"/>
          </a:p>
        </p:txBody>
      </p:sp>
      <p:sp>
        <p:nvSpPr>
          <p:cNvPr id="15" name="card"/>
          <p:cNvSpPr/>
          <p:nvPr/>
        </p:nvSpPr>
        <p:spPr>
          <a:xfrm>
            <a:off x="548640" y="3703320"/>
            <a:ext cx="3474720" cy="2148840"/>
          </a:xfrm>
          <a:prstGeom prst="roundRect">
            <a:avLst>
              <a:gd name="adj" fmla="val 5106"/>
            </a:avLst>
          </a:prstGeom>
          <a:solidFill>
            <a:srgbClr val="FBF7F0"/>
          </a:solidFill>
          <a:ln w="12700">
            <a:solidFill>
              <a:srgbClr val="FBF7F0"/>
            </a:solidFill>
            <a:prstDash val="solid"/>
          </a:ln>
        </p:spPr>
      </p:sp>
      <p:sp>
        <p:nvSpPr>
          <p:cNvPr id="16" name="Text 14"/>
          <p:cNvSpPr/>
          <p:nvPr/>
        </p:nvSpPr>
        <p:spPr>
          <a:xfrm>
            <a:off x="777240" y="3886200"/>
            <a:ext cx="3017520" cy="685800"/>
          </a:xfrm>
          <a:prstGeom prst="rect">
            <a:avLst/>
          </a:prstGeom>
          <a:noFill/>
          <a:ln/>
        </p:spPr>
        <p:txBody>
          <a:bodyPr wrap="square" lIns="0" tIns="0" rIns="0" bIns="0" rtlCol="0" anchor="t"/>
          <a:lstStyle/>
          <a:p>
            <a:pPr indent="0" marL="0">
              <a:buNone/>
            </a:pPr>
            <a:r>
              <a:rPr lang="en-US" sz="1650" b="1" dirty="0">
                <a:solidFill>
                  <a:srgbClr val="B4473A"/>
                </a:solidFill>
                <a:latin typeface="Cambria" pitchFamily="34" charset="0"/>
                <a:ea typeface="Cambria" pitchFamily="34" charset="-122"/>
                <a:cs typeface="Cambria" pitchFamily="34" charset="-120"/>
              </a:rPr>
              <a:t>Cash total ₹53,600 (really ₹6,000)</a:t>
            </a:r>
            <a:endParaRPr lang="en-US" sz="1650" dirty="0"/>
          </a:p>
        </p:txBody>
      </p:sp>
      <p:sp>
        <p:nvSpPr>
          <p:cNvPr id="17" name="Text 15"/>
          <p:cNvSpPr/>
          <p:nvPr/>
        </p:nvSpPr>
        <p:spPr>
          <a:xfrm>
            <a:off x="777240" y="4572000"/>
            <a:ext cx="3017520" cy="457200"/>
          </a:xfrm>
          <a:prstGeom prst="rect">
            <a:avLst/>
          </a:prstGeom>
          <a:noFill/>
          <a:ln/>
        </p:spPr>
        <p:txBody>
          <a:bodyPr wrap="square" lIns="0" tIns="0" rIns="0" bIns="0" rtlCol="0" anchor="t"/>
          <a:lstStyle/>
          <a:p>
            <a:pPr indent="0" marL="0">
              <a:buNone/>
            </a:pPr>
            <a:r>
              <a:rPr lang="en-US" sz="1350" i="1" dirty="0">
                <a:solidFill>
                  <a:srgbClr val="5E6678"/>
                </a:solidFill>
              </a:rPr>
              <a:t>LLM arithmetic</a:t>
            </a:r>
            <a:endParaRPr lang="en-US" sz="1350" dirty="0"/>
          </a:p>
        </p:txBody>
      </p:sp>
      <p:sp>
        <p:nvSpPr>
          <p:cNvPr id="18" name="Text 16"/>
          <p:cNvSpPr/>
          <p:nvPr/>
        </p:nvSpPr>
        <p:spPr>
          <a:xfrm>
            <a:off x="777240" y="5074920"/>
            <a:ext cx="3017520" cy="640080"/>
          </a:xfrm>
          <a:prstGeom prst="rect">
            <a:avLst/>
          </a:prstGeom>
          <a:noFill/>
          <a:ln/>
        </p:spPr>
        <p:txBody>
          <a:bodyPr wrap="square" lIns="0" tIns="0" rIns="0" bIns="0" rtlCol="0" anchor="t"/>
          <a:lstStyle/>
          <a:p>
            <a:pPr indent="0" marL="0">
              <a:buNone/>
            </a:pPr>
            <a:r>
              <a:rPr lang="en-US" sz="1450" b="1" dirty="0">
                <a:solidFill>
                  <a:srgbClr val="1E8C5A"/>
                </a:solidFill>
              </a:rPr>
              <a:t>Fix: Guardrail checks the computed total</a:t>
            </a:r>
            <a:endParaRPr lang="en-US" sz="1450" dirty="0"/>
          </a:p>
        </p:txBody>
      </p:sp>
      <p:sp>
        <p:nvSpPr>
          <p:cNvPr id="19" name="card"/>
          <p:cNvSpPr/>
          <p:nvPr/>
        </p:nvSpPr>
        <p:spPr>
          <a:xfrm>
            <a:off x="4297680" y="3703320"/>
            <a:ext cx="3474720" cy="2148840"/>
          </a:xfrm>
          <a:prstGeom prst="roundRect">
            <a:avLst>
              <a:gd name="adj" fmla="val 5106"/>
            </a:avLst>
          </a:prstGeom>
          <a:solidFill>
            <a:srgbClr val="FBF7F0"/>
          </a:solidFill>
          <a:ln w="12700">
            <a:solidFill>
              <a:srgbClr val="FBF7F0"/>
            </a:solidFill>
            <a:prstDash val="solid"/>
          </a:ln>
        </p:spPr>
      </p:sp>
      <p:sp>
        <p:nvSpPr>
          <p:cNvPr id="20" name="Text 18"/>
          <p:cNvSpPr/>
          <p:nvPr/>
        </p:nvSpPr>
        <p:spPr>
          <a:xfrm>
            <a:off x="4526280" y="3886200"/>
            <a:ext cx="3017520" cy="685800"/>
          </a:xfrm>
          <a:prstGeom prst="rect">
            <a:avLst/>
          </a:prstGeom>
          <a:noFill/>
          <a:ln/>
        </p:spPr>
        <p:txBody>
          <a:bodyPr wrap="square" lIns="0" tIns="0" rIns="0" bIns="0" rtlCol="0" anchor="t"/>
          <a:lstStyle/>
          <a:p>
            <a:pPr indent="0" marL="0">
              <a:buNone/>
            </a:pPr>
            <a:r>
              <a:rPr lang="en-US" sz="1650" b="1" dirty="0">
                <a:solidFill>
                  <a:srgbClr val="B4473A"/>
                </a:solidFill>
                <a:latin typeface="Cambria" pitchFamily="34" charset="0"/>
                <a:ea typeface="Cambria" pitchFamily="34" charset="-122"/>
                <a:cs typeface="Cambria" pitchFamily="34" charset="-120"/>
              </a:rPr>
              <a:t>NPS described with a wrong rule</a:t>
            </a:r>
            <a:endParaRPr lang="en-US" sz="1650" dirty="0"/>
          </a:p>
        </p:txBody>
      </p:sp>
      <p:sp>
        <p:nvSpPr>
          <p:cNvPr id="21" name="Text 19"/>
          <p:cNvSpPr/>
          <p:nvPr/>
        </p:nvSpPr>
        <p:spPr>
          <a:xfrm>
            <a:off x="4526280" y="4572000"/>
            <a:ext cx="3017520" cy="457200"/>
          </a:xfrm>
          <a:prstGeom prst="rect">
            <a:avLst/>
          </a:prstGeom>
          <a:noFill/>
          <a:ln/>
        </p:spPr>
        <p:txBody>
          <a:bodyPr wrap="square" lIns="0" tIns="0" rIns="0" bIns="0" rtlCol="0" anchor="t"/>
          <a:lstStyle/>
          <a:p>
            <a:pPr indent="0" marL="0">
              <a:buNone/>
            </a:pPr>
            <a:r>
              <a:rPr lang="en-US" sz="1350" i="1" dirty="0">
                <a:solidFill>
                  <a:srgbClr val="5E6678"/>
                </a:solidFill>
              </a:rPr>
              <a:t>Out-of-library scheme</a:t>
            </a:r>
            <a:endParaRPr lang="en-US" sz="1350" dirty="0"/>
          </a:p>
        </p:txBody>
      </p:sp>
      <p:sp>
        <p:nvSpPr>
          <p:cNvPr id="22" name="Text 20"/>
          <p:cNvSpPr/>
          <p:nvPr/>
        </p:nvSpPr>
        <p:spPr>
          <a:xfrm>
            <a:off x="4526280" y="5074920"/>
            <a:ext cx="3017520" cy="640080"/>
          </a:xfrm>
          <a:prstGeom prst="rect">
            <a:avLst/>
          </a:prstGeom>
          <a:noFill/>
          <a:ln/>
        </p:spPr>
        <p:txBody>
          <a:bodyPr wrap="square" lIns="0" tIns="0" rIns="0" bIns="0" rtlCol="0" anchor="t"/>
          <a:lstStyle/>
          <a:p>
            <a:pPr indent="0" marL="0">
              <a:buNone/>
            </a:pPr>
            <a:r>
              <a:rPr lang="en-US" sz="1450" b="1" dirty="0">
                <a:solidFill>
                  <a:srgbClr val="1E8C5A"/>
                </a:solidFill>
              </a:rPr>
              <a:t>Fix: Unknown-scheme check</a:t>
            </a:r>
            <a:endParaRPr lang="en-US" sz="1450" dirty="0"/>
          </a:p>
        </p:txBody>
      </p:sp>
      <p:sp>
        <p:nvSpPr>
          <p:cNvPr id="23" name="card"/>
          <p:cNvSpPr/>
          <p:nvPr/>
        </p:nvSpPr>
        <p:spPr>
          <a:xfrm>
            <a:off x="8046720" y="3703320"/>
            <a:ext cx="3474720" cy="2148840"/>
          </a:xfrm>
          <a:prstGeom prst="roundRect">
            <a:avLst>
              <a:gd name="adj" fmla="val 5106"/>
            </a:avLst>
          </a:prstGeom>
          <a:solidFill>
            <a:srgbClr val="FBF7F0"/>
          </a:solidFill>
          <a:ln w="12700">
            <a:solidFill>
              <a:srgbClr val="FBF7F0"/>
            </a:solidFill>
            <a:prstDash val="solid"/>
          </a:ln>
        </p:spPr>
      </p:sp>
      <p:sp>
        <p:nvSpPr>
          <p:cNvPr id="24" name="Text 22"/>
          <p:cNvSpPr/>
          <p:nvPr/>
        </p:nvSpPr>
        <p:spPr>
          <a:xfrm>
            <a:off x="8275320" y="3886200"/>
            <a:ext cx="3017520" cy="685800"/>
          </a:xfrm>
          <a:prstGeom prst="rect">
            <a:avLst/>
          </a:prstGeom>
          <a:noFill/>
          <a:ln/>
        </p:spPr>
        <p:txBody>
          <a:bodyPr wrap="square" lIns="0" tIns="0" rIns="0" bIns="0" rtlCol="0" anchor="t"/>
          <a:lstStyle/>
          <a:p>
            <a:pPr indent="0" marL="0">
              <a:buNone/>
            </a:pPr>
            <a:r>
              <a:rPr lang="en-US" sz="1650" b="1" dirty="0">
                <a:solidFill>
                  <a:srgbClr val="B4473A"/>
                </a:solidFill>
                <a:latin typeface="Cambria" pitchFamily="34" charset="0"/>
                <a:ea typeface="Cambria" pitchFamily="34" charset="-122"/>
                <a:cs typeface="Cambria" pitchFamily="34" charset="-120"/>
              </a:rPr>
              <a:t>Invented websites</a:t>
            </a:r>
            <a:endParaRPr lang="en-US" sz="1650" dirty="0"/>
          </a:p>
        </p:txBody>
      </p:sp>
      <p:sp>
        <p:nvSpPr>
          <p:cNvPr id="25" name="Text 23"/>
          <p:cNvSpPr/>
          <p:nvPr/>
        </p:nvSpPr>
        <p:spPr>
          <a:xfrm>
            <a:off x="8275320" y="4572000"/>
            <a:ext cx="3017520" cy="457200"/>
          </a:xfrm>
          <a:prstGeom prst="rect">
            <a:avLst/>
          </a:prstGeom>
          <a:noFill/>
          <a:ln/>
        </p:spPr>
        <p:txBody>
          <a:bodyPr wrap="square" lIns="0" tIns="0" rIns="0" bIns="0" rtlCol="0" anchor="t"/>
          <a:lstStyle/>
          <a:p>
            <a:pPr indent="0" marL="0">
              <a:buNone/>
            </a:pPr>
            <a:r>
              <a:rPr lang="en-US" sz="1350" i="1" dirty="0">
                <a:solidFill>
                  <a:srgbClr val="5E6678"/>
                </a:solidFill>
              </a:rPr>
              <a:t>Plausible .gov.in names</a:t>
            </a:r>
            <a:endParaRPr lang="en-US" sz="1350" dirty="0"/>
          </a:p>
        </p:txBody>
      </p:sp>
      <p:sp>
        <p:nvSpPr>
          <p:cNvPr id="26" name="Text 24"/>
          <p:cNvSpPr/>
          <p:nvPr/>
        </p:nvSpPr>
        <p:spPr>
          <a:xfrm>
            <a:off x="8275320" y="5074920"/>
            <a:ext cx="3017520" cy="640080"/>
          </a:xfrm>
          <a:prstGeom prst="rect">
            <a:avLst/>
          </a:prstGeom>
          <a:noFill/>
          <a:ln/>
        </p:spPr>
        <p:txBody>
          <a:bodyPr wrap="square" lIns="0" tIns="0" rIns="0" bIns="0" rtlCol="0" anchor="t"/>
          <a:lstStyle/>
          <a:p>
            <a:pPr indent="0" marL="0">
              <a:buNone/>
            </a:pPr>
            <a:r>
              <a:rPr lang="en-US" sz="1450" b="1" dirty="0">
                <a:solidFill>
                  <a:srgbClr val="1E8C5A"/>
                </a:solidFill>
              </a:rPr>
              <a:t>Fix: Address must be in the official text</a:t>
            </a:r>
            <a:endParaRPr lang="en-US" sz="1450" dirty="0"/>
          </a:p>
        </p:txBody>
      </p:sp>
      <p:sp>
        <p:nvSpPr>
          <p:cNvPr id="27" name="Text 25"/>
          <p:cNvSpPr/>
          <p:nvPr/>
        </p:nvSpPr>
        <p:spPr>
          <a:xfrm>
            <a:off x="548640" y="6035040"/>
            <a:ext cx="11064240" cy="320040"/>
          </a:xfrm>
          <a:prstGeom prst="rect">
            <a:avLst/>
          </a:prstGeom>
          <a:noFill/>
          <a:ln/>
        </p:spPr>
        <p:txBody>
          <a:bodyPr wrap="square" lIns="0" tIns="0" rIns="0" bIns="0" rtlCol="0" anchor="ctr"/>
          <a:lstStyle/>
          <a:p>
            <a:pPr indent="0" marL="0">
              <a:buNone/>
            </a:pPr>
            <a:r>
              <a:rPr lang="en-US" sz="1300" i="1" dirty="0">
                <a:solidFill>
                  <a:srgbClr val="5E6678"/>
                </a:solidFill>
              </a:rPr>
              <a:t>All locked in by 39 offline unit tests (about 1 second, no LLM needed)</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678"/>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Business value, and honest limits</a:t>
            </a:r>
            <a:endParaRPr lang="en-US" sz="3000" dirty="0"/>
          </a:p>
        </p:txBody>
      </p:sp>
      <p:sp>
        <p:nvSpPr>
          <p:cNvPr id="3" name="icon-circle"/>
          <p:cNvSpPr/>
          <p:nvPr/>
        </p:nvSpPr>
        <p:spPr>
          <a:xfrm>
            <a:off x="548640" y="1417320"/>
            <a:ext cx="731520" cy="731520"/>
          </a:xfrm>
          <a:prstGeom prst="ellipse">
            <a:avLst/>
          </a:prstGeom>
          <a:solidFill>
            <a:srgbClr val="E07A2E"/>
          </a:solidFill>
          <a:ln w="12700">
            <a:solidFill>
              <a:srgbClr val="E07A2E"/>
            </a:solidFill>
            <a:prstDash val="solid"/>
          </a:ln>
        </p:spPr>
      </p:sp>
      <p:pic>
        <p:nvPicPr>
          <p:cNvPr id="4" name="icon" descr="preencoded.png">    </p:cNvPr>
          <p:cNvPicPr>
            <a:picLocks noChangeAspect="1"/>
          </p:cNvPicPr>
          <p:nvPr/>
        </p:nvPicPr>
        <p:blipFill>
          <a:blip r:embed="rId1"/>
          <a:stretch>
            <a:fillRect/>
          </a:stretch>
        </p:blipFill>
        <p:spPr>
          <a:xfrm>
            <a:off x="724205" y="1592885"/>
            <a:ext cx="380390" cy="380390"/>
          </a:xfrm>
          <a:prstGeom prst="rect">
            <a:avLst/>
          </a:prstGeom>
        </p:spPr>
      </p:pic>
      <p:sp>
        <p:nvSpPr>
          <p:cNvPr id="5" name="Text 2"/>
          <p:cNvSpPr/>
          <p:nvPr/>
        </p:nvSpPr>
        <p:spPr>
          <a:xfrm>
            <a:off x="1463040" y="1325880"/>
            <a:ext cx="5212080" cy="411480"/>
          </a:xfrm>
          <a:prstGeom prst="rect">
            <a:avLst/>
          </a:prstGeom>
          <a:noFill/>
          <a:ln/>
        </p:spPr>
        <p:txBody>
          <a:bodyPr wrap="square" lIns="0" tIns="0" rIns="0" bIns="0" rtlCol="0" anchor="ctr"/>
          <a:lstStyle/>
          <a:p>
            <a:pPr indent="0" marL="0">
              <a:buNone/>
            </a:pPr>
            <a:r>
              <a:rPr lang="en-US" sz="1800" b="1" dirty="0">
                <a:solidFill>
                  <a:srgbClr val="1F2A44"/>
                </a:solidFill>
                <a:latin typeface="Cambria" pitchFamily="34" charset="0"/>
                <a:ea typeface="Cambria" pitchFamily="34" charset="-122"/>
                <a:cs typeface="Cambria" pitchFamily="34" charset="-120"/>
              </a:rPr>
              <a:t>Screening in seconds</a:t>
            </a:r>
            <a:endParaRPr lang="en-US" sz="1800" dirty="0"/>
          </a:p>
        </p:txBody>
      </p:sp>
      <p:sp>
        <p:nvSpPr>
          <p:cNvPr id="6" name="Text 3"/>
          <p:cNvSpPr/>
          <p:nvPr/>
        </p:nvSpPr>
        <p:spPr>
          <a:xfrm>
            <a:off x="1463040" y="1764792"/>
            <a:ext cx="5212080" cy="548640"/>
          </a:xfrm>
          <a:prstGeom prst="rect">
            <a:avLst/>
          </a:prstGeom>
          <a:noFill/>
          <a:ln/>
        </p:spPr>
        <p:txBody>
          <a:bodyPr wrap="square" lIns="0" tIns="0" rIns="0" bIns="0" rtlCol="0" anchor="t"/>
          <a:lstStyle/>
          <a:p>
            <a:pPr indent="0" marL="0">
              <a:buNone/>
            </a:pPr>
            <a:r>
              <a:rPr lang="en-US" sz="1400" dirty="0">
                <a:solidFill>
                  <a:srgbClr val="1F2A44"/>
                </a:solidFill>
              </a:rPr>
              <a:t>95 rules applied instantly at a CSC counter, NGO desk or bank-correspondent point</a:t>
            </a:r>
            <a:endParaRPr lang="en-US" sz="1400" dirty="0"/>
          </a:p>
        </p:txBody>
      </p:sp>
      <p:sp>
        <p:nvSpPr>
          <p:cNvPr id="7" name="icon-circle"/>
          <p:cNvSpPr/>
          <p:nvPr/>
        </p:nvSpPr>
        <p:spPr>
          <a:xfrm>
            <a:off x="548640" y="2560320"/>
            <a:ext cx="731520" cy="731520"/>
          </a:xfrm>
          <a:prstGeom prst="ellipse">
            <a:avLst/>
          </a:prstGeom>
          <a:solidFill>
            <a:srgbClr val="E07A2E"/>
          </a:solidFill>
          <a:ln w="12700">
            <a:solidFill>
              <a:srgbClr val="E07A2E"/>
            </a:solidFill>
            <a:prstDash val="solid"/>
          </a:ln>
        </p:spPr>
      </p:sp>
      <p:pic>
        <p:nvPicPr>
          <p:cNvPr id="8" name="icon" descr="preencoded.png">    </p:cNvPr>
          <p:cNvPicPr>
            <a:picLocks noChangeAspect="1"/>
          </p:cNvPicPr>
          <p:nvPr/>
        </p:nvPicPr>
        <p:blipFill>
          <a:blip r:embed="rId2"/>
          <a:stretch>
            <a:fillRect/>
          </a:stretch>
        </p:blipFill>
        <p:spPr>
          <a:xfrm>
            <a:off x="724205" y="2735885"/>
            <a:ext cx="380390" cy="380390"/>
          </a:xfrm>
          <a:prstGeom prst="rect">
            <a:avLst/>
          </a:prstGeom>
        </p:spPr>
      </p:pic>
      <p:sp>
        <p:nvSpPr>
          <p:cNvPr id="9" name="Text 5"/>
          <p:cNvSpPr/>
          <p:nvPr/>
        </p:nvSpPr>
        <p:spPr>
          <a:xfrm>
            <a:off x="1463040" y="2468880"/>
            <a:ext cx="5212080" cy="411480"/>
          </a:xfrm>
          <a:prstGeom prst="rect">
            <a:avLst/>
          </a:prstGeom>
          <a:noFill/>
          <a:ln/>
        </p:spPr>
        <p:txBody>
          <a:bodyPr wrap="square" lIns="0" tIns="0" rIns="0" bIns="0" rtlCol="0" anchor="ctr"/>
          <a:lstStyle/>
          <a:p>
            <a:pPr indent="0" marL="0">
              <a:buNone/>
            </a:pPr>
            <a:r>
              <a:rPr lang="en-US" sz="1800" b="1" dirty="0">
                <a:solidFill>
                  <a:srgbClr val="1F2A44"/>
                </a:solidFill>
                <a:latin typeface="Cambria" pitchFamily="34" charset="0"/>
                <a:ea typeface="Cambria" pitchFamily="34" charset="-122"/>
                <a:cs typeface="Cambria" pitchFamily="34" charset="-120"/>
              </a:rPr>
              <a:t>Money made visible</a:t>
            </a:r>
            <a:endParaRPr lang="en-US" sz="1800" dirty="0"/>
          </a:p>
        </p:txBody>
      </p:sp>
      <p:sp>
        <p:nvSpPr>
          <p:cNvPr id="10" name="Text 6"/>
          <p:cNvSpPr/>
          <p:nvPr/>
        </p:nvSpPr>
        <p:spPr>
          <a:xfrm>
            <a:off x="1463040" y="2907792"/>
            <a:ext cx="5212080" cy="548640"/>
          </a:xfrm>
          <a:prstGeom prst="rect">
            <a:avLst/>
          </a:prstGeom>
          <a:noFill/>
          <a:ln/>
        </p:spPr>
        <p:txBody>
          <a:bodyPr wrap="square" lIns="0" tIns="0" rIns="0" bIns="0" rtlCol="0" anchor="t"/>
          <a:lstStyle/>
          <a:p>
            <a:pPr indent="0" marL="0">
              <a:buNone/>
            </a:pPr>
            <a:r>
              <a:rPr lang="en-US" sz="1400" dirty="0">
                <a:solidFill>
                  <a:srgbClr val="1F2A44"/>
                </a:solidFill>
              </a:rPr>
              <a:t>“₹6,000 a year” or “₹2 lakh cover for ₹20” turns a scheme into a decision</a:t>
            </a:r>
            <a:endParaRPr lang="en-US" sz="1400" dirty="0"/>
          </a:p>
        </p:txBody>
      </p:sp>
      <p:sp>
        <p:nvSpPr>
          <p:cNvPr id="11" name="icon-circle"/>
          <p:cNvSpPr/>
          <p:nvPr/>
        </p:nvSpPr>
        <p:spPr>
          <a:xfrm>
            <a:off x="548640" y="3703320"/>
            <a:ext cx="731520" cy="731520"/>
          </a:xfrm>
          <a:prstGeom prst="ellipse">
            <a:avLst/>
          </a:prstGeom>
          <a:solidFill>
            <a:srgbClr val="E07A2E"/>
          </a:solidFill>
          <a:ln w="12700">
            <a:solidFill>
              <a:srgbClr val="E07A2E"/>
            </a:solidFill>
            <a:prstDash val="solid"/>
          </a:ln>
        </p:spPr>
      </p:sp>
      <p:pic>
        <p:nvPicPr>
          <p:cNvPr id="12" name="icon" descr="preencoded.png">    </p:cNvPr>
          <p:cNvPicPr>
            <a:picLocks noChangeAspect="1"/>
          </p:cNvPicPr>
          <p:nvPr/>
        </p:nvPicPr>
        <p:blipFill>
          <a:blip r:embed="rId3"/>
          <a:stretch>
            <a:fillRect/>
          </a:stretch>
        </p:blipFill>
        <p:spPr>
          <a:xfrm>
            <a:off x="724205" y="3878885"/>
            <a:ext cx="380390" cy="380390"/>
          </a:xfrm>
          <a:prstGeom prst="rect">
            <a:avLst/>
          </a:prstGeom>
        </p:spPr>
      </p:pic>
      <p:sp>
        <p:nvSpPr>
          <p:cNvPr id="13" name="Text 8"/>
          <p:cNvSpPr/>
          <p:nvPr/>
        </p:nvSpPr>
        <p:spPr>
          <a:xfrm>
            <a:off x="1463040" y="3611880"/>
            <a:ext cx="5212080" cy="411480"/>
          </a:xfrm>
          <a:prstGeom prst="rect">
            <a:avLst/>
          </a:prstGeom>
          <a:noFill/>
          <a:ln/>
        </p:spPr>
        <p:txBody>
          <a:bodyPr wrap="square" lIns="0" tIns="0" rIns="0" bIns="0" rtlCol="0" anchor="ctr"/>
          <a:lstStyle/>
          <a:p>
            <a:pPr indent="0" marL="0">
              <a:buNone/>
            </a:pPr>
            <a:r>
              <a:rPr lang="en-US" sz="1800" b="1" dirty="0">
                <a:solidFill>
                  <a:srgbClr val="1F2A44"/>
                </a:solidFill>
                <a:latin typeface="Cambria" pitchFamily="34" charset="0"/>
                <a:ea typeface="Cambria" pitchFamily="34" charset="-122"/>
                <a:cs typeface="Cambria" pitchFamily="34" charset="-120"/>
              </a:rPr>
              <a:t>One trip, right papers</a:t>
            </a:r>
            <a:endParaRPr lang="en-US" sz="1800" dirty="0"/>
          </a:p>
        </p:txBody>
      </p:sp>
      <p:sp>
        <p:nvSpPr>
          <p:cNvPr id="14" name="Text 9"/>
          <p:cNvSpPr/>
          <p:nvPr/>
        </p:nvSpPr>
        <p:spPr>
          <a:xfrm>
            <a:off x="1463040" y="4050792"/>
            <a:ext cx="5212080" cy="548640"/>
          </a:xfrm>
          <a:prstGeom prst="rect">
            <a:avLst/>
          </a:prstGeom>
          <a:noFill/>
          <a:ln/>
        </p:spPr>
        <p:txBody>
          <a:bodyPr wrap="square" lIns="0" tIns="0" rIns="0" bIns="0" rtlCol="0" anchor="t"/>
          <a:lstStyle/>
          <a:p>
            <a:pPr indent="0" marL="0">
              <a:buNone/>
            </a:pPr>
            <a:r>
              <a:rPr lang="en-US" sz="1400" dirty="0">
                <a:solidFill>
                  <a:srgbClr val="1F2A44"/>
                </a:solidFill>
              </a:rPr>
              <a:t>A merged checklist means people bring each document once</a:t>
            </a:r>
            <a:endParaRPr lang="en-US" sz="1400" dirty="0"/>
          </a:p>
        </p:txBody>
      </p:sp>
      <p:sp>
        <p:nvSpPr>
          <p:cNvPr id="15" name="icon-circle"/>
          <p:cNvSpPr/>
          <p:nvPr/>
        </p:nvSpPr>
        <p:spPr>
          <a:xfrm>
            <a:off x="548640" y="4846320"/>
            <a:ext cx="731520" cy="731520"/>
          </a:xfrm>
          <a:prstGeom prst="ellipse">
            <a:avLst/>
          </a:prstGeom>
          <a:solidFill>
            <a:srgbClr val="E07A2E"/>
          </a:solidFill>
          <a:ln w="12700">
            <a:solidFill>
              <a:srgbClr val="E07A2E"/>
            </a:solidFill>
            <a:prstDash val="solid"/>
          </a:ln>
        </p:spPr>
      </p:sp>
      <p:pic>
        <p:nvPicPr>
          <p:cNvPr id="16" name="icon" descr="preencoded.png">    </p:cNvPr>
          <p:cNvPicPr>
            <a:picLocks noChangeAspect="1"/>
          </p:cNvPicPr>
          <p:nvPr/>
        </p:nvPicPr>
        <p:blipFill>
          <a:blip r:embed="rId4"/>
          <a:stretch>
            <a:fillRect/>
          </a:stretch>
        </p:blipFill>
        <p:spPr>
          <a:xfrm>
            <a:off x="724205" y="5021885"/>
            <a:ext cx="380390" cy="380390"/>
          </a:xfrm>
          <a:prstGeom prst="rect">
            <a:avLst/>
          </a:prstGeom>
        </p:spPr>
      </p:pic>
      <p:sp>
        <p:nvSpPr>
          <p:cNvPr id="17" name="Text 11"/>
          <p:cNvSpPr/>
          <p:nvPr/>
        </p:nvSpPr>
        <p:spPr>
          <a:xfrm>
            <a:off x="1463040" y="4754880"/>
            <a:ext cx="5212080" cy="411480"/>
          </a:xfrm>
          <a:prstGeom prst="rect">
            <a:avLst/>
          </a:prstGeom>
          <a:noFill/>
          <a:ln/>
        </p:spPr>
        <p:txBody>
          <a:bodyPr wrap="square" lIns="0" tIns="0" rIns="0" bIns="0" rtlCol="0" anchor="ctr"/>
          <a:lstStyle/>
          <a:p>
            <a:pPr indent="0" marL="0">
              <a:buNone/>
            </a:pPr>
            <a:r>
              <a:rPr lang="en-US" sz="1800" b="1" dirty="0">
                <a:solidFill>
                  <a:srgbClr val="1F2A44"/>
                </a:solidFill>
                <a:latin typeface="Cambria" pitchFamily="34" charset="0"/>
                <a:ea typeface="Cambria" pitchFamily="34" charset="-122"/>
                <a:cs typeface="Cambria" pitchFamily="34" charset="-120"/>
              </a:rPr>
              <a:t>Near-zero cost</a:t>
            </a:r>
            <a:endParaRPr lang="en-US" sz="1800" dirty="0"/>
          </a:p>
        </p:txBody>
      </p:sp>
      <p:sp>
        <p:nvSpPr>
          <p:cNvPr id="18" name="Text 12"/>
          <p:cNvSpPr/>
          <p:nvPr/>
        </p:nvSpPr>
        <p:spPr>
          <a:xfrm>
            <a:off x="1463040" y="5193792"/>
            <a:ext cx="5212080" cy="548640"/>
          </a:xfrm>
          <a:prstGeom prst="rect">
            <a:avLst/>
          </a:prstGeom>
          <a:noFill/>
          <a:ln/>
        </p:spPr>
        <p:txBody>
          <a:bodyPr wrap="square" lIns="0" tIns="0" rIns="0" bIns="0" rtlCol="0" anchor="t"/>
          <a:lstStyle/>
          <a:p>
            <a:pPr indent="0" marL="0">
              <a:buNone/>
            </a:pPr>
            <a:r>
              <a:rPr lang="en-US" sz="1400" dirty="0">
                <a:solidFill>
                  <a:srgbClr val="1F2A44"/>
                </a:solidFill>
              </a:rPr>
              <a:t>Free LLM tier and local embeddings; runs on one laptop</a:t>
            </a:r>
            <a:endParaRPr lang="en-US" sz="1400" dirty="0"/>
          </a:p>
        </p:txBody>
      </p:sp>
      <p:sp>
        <p:nvSpPr>
          <p:cNvPr id="19" name="card"/>
          <p:cNvSpPr/>
          <p:nvPr/>
        </p:nvSpPr>
        <p:spPr>
          <a:xfrm>
            <a:off x="7132320" y="1325880"/>
            <a:ext cx="4480560" cy="4526280"/>
          </a:xfrm>
          <a:prstGeom prst="roundRect">
            <a:avLst>
              <a:gd name="adj" fmla="val 2449"/>
            </a:avLst>
          </a:prstGeom>
          <a:solidFill>
            <a:srgbClr val="FBF7F0"/>
          </a:solidFill>
          <a:ln w="12700">
            <a:solidFill>
              <a:srgbClr val="FBF7F0"/>
            </a:solidFill>
            <a:prstDash val="solid"/>
          </a:ln>
        </p:spPr>
      </p:sp>
      <p:sp>
        <p:nvSpPr>
          <p:cNvPr id="20" name="Text 14"/>
          <p:cNvSpPr/>
          <p:nvPr/>
        </p:nvSpPr>
        <p:spPr>
          <a:xfrm>
            <a:off x="7406640" y="1508760"/>
            <a:ext cx="3931920" cy="457200"/>
          </a:xfrm>
          <a:prstGeom prst="rect">
            <a:avLst/>
          </a:prstGeom>
          <a:noFill/>
          <a:ln/>
        </p:spPr>
        <p:txBody>
          <a:bodyPr wrap="square" lIns="0" tIns="0" rIns="0" bIns="0" rtlCol="0" anchor="ctr"/>
          <a:lstStyle/>
          <a:p>
            <a:pPr indent="0" marL="0">
              <a:buNone/>
            </a:pPr>
            <a:r>
              <a:rPr lang="en-US" sz="2000" b="1" dirty="0">
                <a:solidFill>
                  <a:srgbClr val="1F2A44"/>
                </a:solidFill>
                <a:latin typeface="Cambria" pitchFamily="34" charset="0"/>
                <a:ea typeface="Cambria" pitchFamily="34" charset="-122"/>
                <a:cs typeface="Cambria" pitchFamily="34" charset="-120"/>
              </a:rPr>
              <a:t>Limits</a:t>
            </a:r>
            <a:endParaRPr lang="en-US" sz="2000" dirty="0"/>
          </a:p>
        </p:txBody>
      </p:sp>
      <p:sp>
        <p:nvSpPr>
          <p:cNvPr id="21" name="Text 15"/>
          <p:cNvSpPr/>
          <p:nvPr/>
        </p:nvSpPr>
        <p:spPr>
          <a:xfrm>
            <a:off x="7406640" y="2057400"/>
            <a:ext cx="4023360" cy="36576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F2A44"/>
                </a:solidFill>
              </a:rPr>
              <a:t>32 central schemes; no state schemes yet</a:t>
            </a:r>
            <a:endParaRPr lang="en-US" sz="1400" dirty="0"/>
          </a:p>
          <a:p>
            <a:pPr marL="342900" indent="-342900">
              <a:spcAft>
                <a:spcPts val="800"/>
              </a:spcAft>
              <a:buSzPct val="100000"/>
              <a:buChar char="•"/>
            </a:pPr>
            <a:r>
              <a:rPr lang="en-US" sz="1400" dirty="0">
                <a:solidFill>
                  <a:srgbClr val="1F2A44"/>
                </a:solidFill>
              </a:rPr>
              <a:t>“Likely” still needs an office to confirm</a:t>
            </a:r>
            <a:endParaRPr lang="en-US" sz="1400" dirty="0"/>
          </a:p>
          <a:p>
            <a:pPr marL="342900" indent="-342900">
              <a:spcAft>
                <a:spcPts val="800"/>
              </a:spcAft>
              <a:buSzPct val="100000"/>
              <a:buChar char="•"/>
            </a:pPr>
            <a:r>
              <a:rPr lang="en-US" sz="1400" dirty="0">
                <a:solidFill>
                  <a:srgbClr val="1F2A44"/>
                </a:solidFill>
              </a:rPr>
              <a:t>Rules need review when schemes change</a:t>
            </a:r>
            <a:endParaRPr lang="en-US" sz="1400" dirty="0"/>
          </a:p>
          <a:p>
            <a:pPr marL="342900" indent="-342900">
              <a:spcAft>
                <a:spcPts val="800"/>
              </a:spcAft>
              <a:buSzPct val="100000"/>
              <a:buChar char="•"/>
            </a:pPr>
            <a:r>
              <a:rPr lang="en-US" sz="1400" dirty="0">
                <a:solidFill>
                  <a:srgbClr val="1F2A44"/>
                </a:solidFill>
              </a:rPr>
              <a:t>Labels written by the author, not an independent audit</a:t>
            </a:r>
            <a:endParaRPr lang="en-US" sz="1400" dirty="0"/>
          </a:p>
          <a:p>
            <a:pPr marL="342900" indent="-342900">
              <a:spcAft>
                <a:spcPts val="800"/>
              </a:spcAft>
              <a:buSzPct val="100000"/>
              <a:buChar char="•"/>
            </a:pPr>
            <a:r>
              <a:rPr lang="en-US" sz="1400" dirty="0">
                <a:solidFill>
                  <a:srgbClr val="1F2A44"/>
                </a:solidFill>
              </a:rPr>
              <a:t>A plausible wrong instruction can still slip through, so official links are always shown</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678"/>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640080" y="2057400"/>
            <a:ext cx="7863840" cy="100584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Every scheme you are owed</a:t>
            </a:r>
            <a:endParaRPr lang="en-US" sz="4400" dirty="0"/>
          </a:p>
        </p:txBody>
      </p:sp>
      <p:sp>
        <p:nvSpPr>
          <p:cNvPr id="3" name="Text 1"/>
          <p:cNvSpPr/>
          <p:nvPr/>
        </p:nvSpPr>
        <p:spPr>
          <a:xfrm>
            <a:off x="640080" y="1463040"/>
            <a:ext cx="7680960" cy="457200"/>
          </a:xfrm>
          <a:prstGeom prst="rect">
            <a:avLst/>
          </a:prstGeom>
          <a:noFill/>
          <a:ln/>
        </p:spPr>
        <p:txBody>
          <a:bodyPr wrap="square" lIns="0" tIns="0" rIns="0" bIns="0" rtlCol="0" anchor="ctr"/>
          <a:lstStyle/>
          <a:p>
            <a:pPr indent="0" marL="0">
              <a:buNone/>
            </a:pPr>
            <a:r>
              <a:rPr lang="en-US" sz="1600" b="1" dirty="0">
                <a:solidFill>
                  <a:srgbClr val="F6C9A5"/>
                </a:solidFill>
              </a:rPr>
              <a:t>SchemeSathi · योजना साथी</a:t>
            </a:r>
            <a:endParaRPr lang="en-US" sz="1600" dirty="0"/>
          </a:p>
        </p:txBody>
      </p:sp>
      <p:sp>
        <p:nvSpPr>
          <p:cNvPr id="4" name="Text 2"/>
          <p:cNvSpPr/>
          <p:nvPr/>
        </p:nvSpPr>
        <p:spPr>
          <a:xfrm>
            <a:off x="640080" y="3246120"/>
            <a:ext cx="7680960" cy="457200"/>
          </a:xfrm>
          <a:prstGeom prst="rect">
            <a:avLst/>
          </a:prstGeom>
          <a:noFill/>
          <a:ln/>
        </p:spPr>
        <p:txBody>
          <a:bodyPr wrap="square" lIns="0" tIns="0" rIns="0" bIns="0" rtlCol="0" anchor="ctr"/>
          <a:lstStyle/>
          <a:p>
            <a:pPr indent="0" marL="0">
              <a:buNone/>
            </a:pPr>
            <a:r>
              <a:rPr lang="en-US" sz="2200" i="1" dirty="0">
                <a:solidFill>
                  <a:srgbClr val="D6DCEC"/>
                </a:solidFill>
                <a:latin typeface="Cambria" pitchFamily="34" charset="0"/>
                <a:ea typeface="Cambria" pitchFamily="34" charset="-122"/>
                <a:cs typeface="Cambria" pitchFamily="34" charset="-120"/>
              </a:rPr>
              <a:t>with the official proof for every line</a:t>
            </a:r>
            <a:endParaRPr lang="en-US" sz="2200" dirty="0"/>
          </a:p>
        </p:txBody>
      </p:sp>
      <p:sp>
        <p:nvSpPr>
          <p:cNvPr id="5" name="Text 3"/>
          <p:cNvSpPr/>
          <p:nvPr/>
        </p:nvSpPr>
        <p:spPr>
          <a:xfrm>
            <a:off x="640080" y="3794760"/>
            <a:ext cx="7680960" cy="457200"/>
          </a:xfrm>
          <a:prstGeom prst="rect">
            <a:avLst/>
          </a:prstGeom>
          <a:noFill/>
          <a:ln/>
        </p:spPr>
        <p:txBody>
          <a:bodyPr wrap="square" lIns="0" tIns="0" rIns="0" bIns="0" rtlCol="0" anchor="ctr"/>
          <a:lstStyle/>
          <a:p>
            <a:pPr indent="0" marL="0">
              <a:buNone/>
            </a:pPr>
            <a:r>
              <a:rPr lang="en-US" sz="1800" dirty="0">
                <a:solidFill>
                  <a:srgbClr val="F6C9A5"/>
                </a:solidFill>
              </a:rPr>
              <a:t>आपकी हक़ की हर सरकारी योजना — सरकारी स्रोत के साथ</a:t>
            </a:r>
            <a:endParaRPr lang="en-US" sz="1800" dirty="0"/>
          </a:p>
        </p:txBody>
      </p:sp>
      <p:sp>
        <p:nvSpPr>
          <p:cNvPr id="6" name="Text 4"/>
          <p:cNvSpPr/>
          <p:nvPr/>
        </p:nvSpPr>
        <p:spPr>
          <a:xfrm>
            <a:off x="640080" y="4572000"/>
            <a:ext cx="7680960" cy="822960"/>
          </a:xfrm>
          <a:prstGeom prst="rect">
            <a:avLst/>
          </a:prstGeom>
          <a:noFill/>
          <a:ln/>
        </p:spPr>
        <p:txBody>
          <a:bodyPr wrap="square" lIns="0" tIns="0" rIns="0" bIns="0" rtlCol="0" anchor="ctr"/>
          <a:lstStyle/>
          <a:p>
            <a:pPr indent="0" marL="0">
              <a:buNone/>
            </a:pPr>
            <a:r>
              <a:rPr lang="en-US" sz="1800" dirty="0">
                <a:solidFill>
                  <a:srgbClr val="D6DCEC"/>
                </a:solidFill>
              </a:rPr>
              <a:t>Code, data, tests and evaluation</a:t>
            </a:r>
            <a:endParaRPr lang="en-US" sz="1800" dirty="0"/>
          </a:p>
          <a:p>
            <a:pPr indent="0" marL="0">
              <a:buNone/>
            </a:pPr>
            <a:r>
              <a:rPr lang="en-US" sz="1800" b="1" u="sng" dirty="0">
                <a:solidFill>
                  <a:srgbClr val="FFFFFF"/>
                </a:solidFill>
                <a:hlinkClick r:id="rId1" invalidUrl="" action="" tgtFrame="" tooltip="" history="1" highlightClick="0" endSnd="0">
                  <a:extLst>
                    <a:ext uri="{A12FA001-AC4F-418D-AE19-62706E023703}">
                      <ahyp:hlinkClr xmlns:ahyp="http://schemas.microsoft.com/office/drawing/2018/hyperlinkcolor" val="tx"/>
                    </a:ext>
                  </a:extLst>
                </a:hlinkClick>
              </a:rPr>
              <a:t>https://github.com/Mahaveersonii/schemesathi</a:t>
            </a:r>
            <a:endParaRPr lang="en-US" sz="1800" dirty="0"/>
          </a:p>
        </p:txBody>
      </p:sp>
      <p:sp>
        <p:nvSpPr>
          <p:cNvPr id="7" name="Text 5"/>
          <p:cNvSpPr/>
          <p:nvPr/>
        </p:nvSpPr>
        <p:spPr>
          <a:xfrm>
            <a:off x="640080" y="5760720"/>
            <a:ext cx="8229600" cy="365760"/>
          </a:xfrm>
          <a:prstGeom prst="rect">
            <a:avLst/>
          </a:prstGeom>
          <a:noFill/>
          <a:ln/>
        </p:spPr>
        <p:txBody>
          <a:bodyPr wrap="square" lIns="0" tIns="0" rIns="0" bIns="0" rtlCol="0" anchor="ctr"/>
          <a:lstStyle/>
          <a:p>
            <a:pPr indent="0" marL="0">
              <a:buNone/>
            </a:pPr>
            <a:r>
              <a:rPr lang="en-US" sz="1300" dirty="0">
                <a:solidFill>
                  <a:srgbClr val="AEB6CC"/>
                </a:solidFill>
              </a:rPr>
              <a:t>Mahaveer Soni · 065089 · FORE School of Management · Thank you</a:t>
            </a:r>
            <a:endParaRPr lang="en-US" sz="1300" dirty="0"/>
          </a:p>
        </p:txBody>
      </p:sp>
      <p:sp>
        <p:nvSpPr>
          <p:cNvPr id="8" name="next-card"/>
          <p:cNvSpPr/>
          <p:nvPr/>
        </p:nvSpPr>
        <p:spPr>
          <a:xfrm>
            <a:off x="8778240" y="2011680"/>
            <a:ext cx="2834640" cy="2834640"/>
          </a:xfrm>
          <a:prstGeom prst="roundRect">
            <a:avLst>
              <a:gd name="adj" fmla="val 3871"/>
            </a:avLst>
          </a:prstGeom>
          <a:solidFill>
            <a:srgbClr val="FFFFFF"/>
          </a:solidFill>
          <a:ln w="12700">
            <a:solidFill>
              <a:srgbClr val="FFFFFF"/>
            </a:solidFill>
            <a:prstDash val="solid"/>
          </a:ln>
        </p:spPr>
      </p:sp>
      <p:sp>
        <p:nvSpPr>
          <p:cNvPr id="9" name="Text 7"/>
          <p:cNvSpPr/>
          <p:nvPr/>
        </p:nvSpPr>
        <p:spPr>
          <a:xfrm>
            <a:off x="9006840" y="2194560"/>
            <a:ext cx="2468880" cy="2468880"/>
          </a:xfrm>
          <a:prstGeom prst="rect">
            <a:avLst/>
          </a:prstGeom>
          <a:noFill/>
          <a:ln/>
        </p:spPr>
        <p:txBody>
          <a:bodyPr wrap="square" lIns="0" tIns="0" rIns="0" bIns="0" rtlCol="0" anchor="t"/>
          <a:lstStyle/>
          <a:p>
            <a:pPr indent="0" marL="0">
              <a:spcAft>
                <a:spcPts val="600"/>
              </a:spcAft>
              <a:buNone/>
            </a:pPr>
            <a:r>
              <a:rPr lang="en-US" sz="1800" b="1" dirty="0">
                <a:solidFill>
                  <a:srgbClr val="E07A2E"/>
                </a:solidFill>
                <a:latin typeface="Cambria" pitchFamily="34" charset="0"/>
                <a:ea typeface="Cambria" pitchFamily="34" charset="-122"/>
                <a:cs typeface="Cambria" pitchFamily="34" charset="-120"/>
              </a:rPr>
              <a:t>Next</a:t>
            </a:r>
            <a:endParaRPr lang="en-US" sz="1400" dirty="0"/>
          </a:p>
          <a:p>
            <a:pPr marL="342900" indent="-342900">
              <a:spcAft>
                <a:spcPts val="600"/>
              </a:spcAft>
              <a:buSzPct val="100000"/>
              <a:buChar char="•"/>
            </a:pPr>
            <a:r>
              <a:rPr lang="en-US" sz="1400" dirty="0">
                <a:solidFill>
                  <a:srgbClr val="1F2A44"/>
                </a:solidFill>
              </a:rPr>
              <a:t>State schemes</a:t>
            </a:r>
            <a:endParaRPr lang="en-US" sz="1400" dirty="0"/>
          </a:p>
          <a:p>
            <a:pPr marL="342900" indent="-342900">
              <a:spcAft>
                <a:spcPts val="600"/>
              </a:spcAft>
              <a:buSzPct val="100000"/>
              <a:buChar char="•"/>
            </a:pPr>
            <a:r>
              <a:rPr lang="en-US" sz="1400" dirty="0">
                <a:solidFill>
                  <a:srgbClr val="1F2A44"/>
                </a:solidFill>
              </a:rPr>
              <a:t>Voice in Indian languages</a:t>
            </a:r>
            <a:endParaRPr lang="en-US" sz="1400" dirty="0"/>
          </a:p>
          <a:p>
            <a:pPr marL="342900" indent="-342900">
              <a:spcAft>
                <a:spcPts val="600"/>
              </a:spcAft>
              <a:buSzPct val="100000"/>
              <a:buChar char="•"/>
            </a:pPr>
            <a:r>
              <a:rPr lang="en-US" sz="1400" dirty="0">
                <a:solidFill>
                  <a:srgbClr val="1F2A44"/>
                </a:solidFill>
              </a:rPr>
              <a:t>Bulk screening for NGOs</a:t>
            </a:r>
            <a:endParaRPr lang="en-US" sz="1400" dirty="0"/>
          </a:p>
          <a:p>
            <a:pPr marL="342900" indent="-342900">
              <a:spcAft>
                <a:spcPts val="600"/>
              </a:spcAft>
              <a:buSzPct val="100000"/>
              <a:buChar char="•"/>
            </a:pPr>
            <a:r>
              <a:rPr lang="en-US" sz="1400" dirty="0">
                <a:solidFill>
                  <a:srgbClr val="1F2A44"/>
                </a:solidFill>
              </a:rPr>
              <a:t>WhatsApp front end</a:t>
            </a:r>
            <a:endParaRPr lang="en-US" sz="1400" dirty="0"/>
          </a:p>
        </p:txBody>
      </p:sp>
      <p:sp>
        <p:nvSpPr>
          <p:cNvPr id="10" name="Text 0"/>
          <p:cNvSpPr/>
          <p:nvPr>
            <p:ph idx="100" type="title" hasCustomPrompt="1"/>
          </p:nvPr>
        </p:nvSpPr>
        <p:spPr>
          <a:xfrm>
            <a:off x="640080" y="2011680"/>
            <a:ext cx="7680960" cy="1280160"/>
          </a:xfrm>
          <a:prstGeom prst="rect">
            <a:avLst/>
          </a:prstGeom>
          <a:noFill/>
          <a:ln/>
        </p:spPr>
        <p:txBody>
          <a:bodyPr wrap="square" lIns="0" tIns="0" rIns="0" bIns="0" rtlCol="0" anchor="ctr"/>
          <a:lstStyle/>
          <a:p>
            <a:pPr algn="l" indent="0" marL="0">
              <a:buNone/>
            </a:pPr>
            <a:endParaRPr lang="en-US" sz="5400" dirty="0"/>
          </a:p>
        </p:txBody>
      </p:sp>
    </p:spTree>
  </p:cSld>
  <p:clrMapOvr>
    <a:masterClrMapping/>
  </p:clrMapOvr>
</p:sld>
</file>

<file path=ppt/theme/theme1.xml><?xml version="1.0" encoding="utf-8"?>
<a:theme xmlns:a="http://schemas.openxmlformats.org/drawingml/2006/main" name="SchemeSathi">
  <a:themeElements>
    <a:clrScheme name="SchemeSathi">
      <a:dk1>
        <a:srgbClr val="1F2A44"/>
      </a:dk1>
      <a:lt1>
        <a:srgbClr val="FFFFFF"/>
      </a:lt1>
      <a:dk2>
        <a:srgbClr val="2B3A63"/>
      </a:dk2>
      <a:lt2>
        <a:srgbClr val="FBF7F0"/>
      </a:lt2>
      <a:accent1>
        <a:srgbClr val="E07A2E"/>
      </a:accent1>
      <a:accent2>
        <a:srgbClr val="1E8C5A"/>
      </a:accent2>
      <a:accent3>
        <a:srgbClr val="C98A12"/>
      </a:accent3>
      <a:accent4>
        <a:srgbClr val="B4473A"/>
      </a:accent4>
      <a:accent5>
        <a:srgbClr val="3B4C7A"/>
      </a:accent5>
      <a:accent6>
        <a:srgbClr val="5E6678"/>
      </a:accent6>
      <a:hlink>
        <a:srgbClr val="3B4C7A"/>
      </a:hlink>
      <a:folHlink>
        <a:srgbClr val="5E6678"/>
      </a:folHlink>
    </a:clrScheme>
    <a:fontScheme name="SchemeSathi">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SchemeSathi – AABA Individual Assignment</dc:title>
  <dc:subject>PptxGenJS Presentation</dc:subject>
  <dc:creator>Mahaveer Soni (065089)</dc:creator>
  <cp:lastModifiedBy>Mahaveer Soni (065089)</cp:lastModifiedBy>
  <cp:revision>1</cp:revision>
  <dcterms:created xsi:type="dcterms:W3CDTF">2026-10-10T12:46:26Z</dcterms:created>
  <dcterms:modified xsi:type="dcterms:W3CDTF">2026-10-10T12:46:26Z</dcterms:modified>
</cp:coreProperties>
</file>